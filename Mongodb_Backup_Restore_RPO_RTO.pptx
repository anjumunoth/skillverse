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6" r:id="rId3"/>
    <p:sldId id="258" r:id="rId4"/>
    <p:sldId id="259" r:id="rId5"/>
    <p:sldId id="260" r:id="rId6"/>
    <p:sldId id="298" r:id="rId7"/>
    <p:sldId id="261" r:id="rId8"/>
    <p:sldId id="262" r:id="rId9"/>
    <p:sldId id="263" r:id="rId10"/>
    <p:sldId id="264" r:id="rId11"/>
    <p:sldId id="297" r:id="rId12"/>
    <p:sldId id="265" r:id="rId13"/>
    <p:sldId id="266" r:id="rId14"/>
    <p:sldId id="267" r:id="rId15"/>
    <p:sldId id="268" r:id="rId16"/>
    <p:sldId id="269" r:id="rId17"/>
    <p:sldId id="270" r:id="rId18"/>
    <p:sldId id="299" r:id="rId19"/>
    <p:sldId id="271" r:id="rId20"/>
    <p:sldId id="272" r:id="rId21"/>
    <p:sldId id="273" r:id="rId22"/>
    <p:sldId id="301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8" d="100"/>
          <a:sy n="78" d="100"/>
        </p:scale>
        <p:origin x="451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25880"/>
            <a:ext cx="5249386" cy="16004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dirty="0"/>
              <a:t>MongoDB 8.x</a:t>
            </a:r>
          </a:p>
          <a:p>
            <a:pPr>
              <a:defRPr sz="3400" b="1">
                <a:solidFill>
                  <a:srgbClr val="B9DCFA"/>
                </a:solidFill>
              </a:defRPr>
            </a:pPr>
            <a:r>
              <a:rPr dirty="0"/>
              <a:t>Backup, Restore &amp; Recovery</a:t>
            </a:r>
          </a:p>
          <a:p>
            <a:pPr>
              <a:defRPr sz="2200">
                <a:solidFill>
                  <a:srgbClr val="DCE1E8"/>
                </a:solidFill>
              </a:defRPr>
            </a:pP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0"/>
            <a:ext cx="7863840" cy="1005840"/>
          </a:xfrm>
          <a:prstGeom prst="roundRect">
            <a:avLst/>
          </a:prstGeom>
          <a:solidFill>
            <a:srgbClr val="233D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</a:rPr>
              <a:t>Core principle</a:t>
            </a:r>
          </a:p>
          <a:p>
            <a:pPr>
              <a:spcBef>
                <a:spcPts val="500"/>
              </a:spcBef>
              <a:defRPr sz="1300">
                <a:solidFill>
                  <a:srgbClr val="23272B"/>
                </a:solidFill>
              </a:defRPr>
            </a:pPr>
            <a:r>
              <a:rPr dirty="0">
                <a:solidFill>
                  <a:schemeClr val="bg1"/>
                </a:solidFill>
              </a:rPr>
              <a:t>Backup is not the objective. Recoverability is the objective.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7FDED1-B7AE-5A44-B240-911F2B942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MongoDB Backup</a:t>
            </a:r>
            <a:endParaRPr lang="en-IN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A20B44B-3A78-CDB3-2DD1-E092DE5E8E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3569995"/>
              </p:ext>
            </p:extLst>
          </p:nvPr>
        </p:nvGraphicFramePr>
        <p:xfrm>
          <a:off x="457200" y="1600199"/>
          <a:ext cx="10403133" cy="45316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7711">
                  <a:extLst>
                    <a:ext uri="{9D8B030D-6E8A-4147-A177-3AD203B41FA5}">
                      <a16:colId xmlns:a16="http://schemas.microsoft.com/office/drawing/2014/main" val="138506891"/>
                    </a:ext>
                  </a:extLst>
                </a:gridCol>
                <a:gridCol w="3467711">
                  <a:extLst>
                    <a:ext uri="{9D8B030D-6E8A-4147-A177-3AD203B41FA5}">
                      <a16:colId xmlns:a16="http://schemas.microsoft.com/office/drawing/2014/main" val="3800199206"/>
                    </a:ext>
                  </a:extLst>
                </a:gridCol>
                <a:gridCol w="3467711">
                  <a:extLst>
                    <a:ext uri="{9D8B030D-6E8A-4147-A177-3AD203B41FA5}">
                      <a16:colId xmlns:a16="http://schemas.microsoft.com/office/drawing/2014/main" val="1333183967"/>
                    </a:ext>
                  </a:extLst>
                </a:gridCol>
              </a:tblGrid>
              <a:tr h="398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Backup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Tool / mechanism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 suited for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3208453"/>
                  </a:ext>
                </a:extLst>
              </a:tr>
              <a:tr h="982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Logical backup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mongodump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Small/medium databases, migration, selective DB/collection backup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6477849"/>
                  </a:ext>
                </a:extLst>
              </a:tr>
              <a:tr h="398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Logical restore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mongorestore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Restoring dumps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4992076"/>
                  </a:ext>
                </a:extLst>
              </a:tr>
              <a:tr h="687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Filesystem snapshot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Storage/volume snapshots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 databases, fast backup/restore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357935"/>
                  </a:ext>
                </a:extLst>
              </a:tr>
              <a:tr h="687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Replica-set based backup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Snapshot + oplog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Point-in-time consistency/recovery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4834592"/>
                  </a:ext>
                </a:extLst>
              </a:tr>
              <a:tr h="687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MongoDB Atlas backup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Atlas Backup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Managed MongoDB deployments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782939"/>
                  </a:ext>
                </a:extLst>
              </a:tr>
              <a:tr h="687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Enterprise backup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MongoDB Ops Manager / Cloud Manager capabilities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Enterprise environments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8704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63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rPr dirty="0"/>
              <a:t>MongoDB Backup — The Big Picture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52317"/>
              </p:ext>
            </p:extLst>
          </p:nvPr>
        </p:nvGraphicFramePr>
        <p:xfrm>
          <a:off x="502920" y="1234440"/>
          <a:ext cx="11155680" cy="527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Approach</a:t>
                      </a:r>
                    </a:p>
                  </a:txBody>
                  <a:tcPr marL="64008" marR="64008">
                    <a:solidFill>
                      <a:srgbClr val="18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Mechanism</a:t>
                      </a:r>
                    </a:p>
                  </a:txBody>
                  <a:tcPr marL="64008" marR="64008">
                    <a:solidFill>
                      <a:srgbClr val="18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Best suited for</a:t>
                      </a:r>
                    </a:p>
                  </a:txBody>
                  <a:tcPr marL="64008" marR="64008">
                    <a:solidFill>
                      <a:srgbClr val="18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72B"/>
                          </a:solidFill>
                        </a:defRPr>
                      </a:pPr>
                      <a:r>
                        <a:rPr sz="2000"/>
                        <a:t>Logical backup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72B"/>
                          </a:solidFill>
                        </a:defRPr>
                      </a:pPr>
                      <a:r>
                        <a:rPr sz="2000"/>
                        <a:t>mongodump / mongorestore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72B"/>
                          </a:solidFill>
                        </a:defRPr>
                      </a:pPr>
                      <a:r>
                        <a:rPr sz="2000"/>
                        <a:t>Small/medium DBs, migration, selective backup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72B"/>
                          </a:solidFill>
                        </a:defRPr>
                      </a:pPr>
                      <a:r>
                        <a:rPr sz="2000"/>
                        <a:t>Filesystem snapshot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72B"/>
                          </a:solidFill>
                        </a:defRPr>
                      </a:pPr>
                      <a:r>
                        <a:rPr sz="2000"/>
                        <a:t>Storage / volume snapshot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72B"/>
                          </a:solidFill>
                        </a:defRPr>
                      </a:pPr>
                      <a:r>
                        <a:rPr sz="2000"/>
                        <a:t>Large DBs, fast backup/restore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72B"/>
                          </a:solidFill>
                        </a:defRPr>
                      </a:pPr>
                      <a:r>
                        <a:rPr sz="2000"/>
                        <a:t>Replica-set + oplog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72B"/>
                          </a:solidFill>
                        </a:defRPr>
                      </a:pPr>
                      <a:r>
                        <a:rPr sz="2000"/>
                        <a:t>Backup + oplog history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72B"/>
                          </a:solidFill>
                        </a:defRPr>
                      </a:pPr>
                      <a:r>
                        <a:rPr sz="2000"/>
                        <a:t>Point-in-time recovery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72B"/>
                          </a:solidFill>
                        </a:defRPr>
                      </a:pPr>
                      <a:r>
                        <a:rPr sz="2000"/>
                        <a:t>Ops Manager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72B"/>
                          </a:solidFill>
                        </a:defRPr>
                      </a:pPr>
                      <a:r>
                        <a:rPr sz="2000"/>
                        <a:t>Managed enterprise backup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72B"/>
                          </a:solidFill>
                        </a:defRPr>
                      </a:pPr>
                      <a:r>
                        <a:rPr sz="2000"/>
                        <a:t>Self-managed enterprise deployments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72B"/>
                          </a:solidFill>
                        </a:defRPr>
                      </a:pPr>
                      <a:r>
                        <a:rPr sz="2000" dirty="0"/>
                        <a:t>Atlas Cloud Backup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72B"/>
                          </a:solidFill>
                        </a:defRPr>
                      </a:pPr>
                      <a:r>
                        <a:rPr sz="2000"/>
                        <a:t>Managed cloud backup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72B"/>
                          </a:solidFill>
                        </a:defRPr>
                      </a:pPr>
                      <a:r>
                        <a:rPr sz="2000"/>
                        <a:t>MongoDB Atlas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72B"/>
                          </a:solidFill>
                        </a:defRPr>
                      </a:pPr>
                      <a:r>
                        <a:rPr sz="2000"/>
                        <a:t>Cloud volume snapshot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72B"/>
                          </a:solidFill>
                        </a:defRPr>
                      </a:pPr>
                      <a:r>
                        <a:rPr sz="2000"/>
                        <a:t>EBS / Managed Disk / Persistent Disk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72B"/>
                          </a:solidFill>
                        </a:defRPr>
                      </a:pPr>
                      <a:r>
                        <a:rPr sz="2000"/>
                        <a:t>Cloud-hosted MongoDB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72B"/>
                          </a:solidFill>
                        </a:defRPr>
                      </a:pPr>
                      <a:r>
                        <a:rPr sz="2000"/>
                        <a:t>Replication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72B"/>
                          </a:solidFill>
                        </a:defRPr>
                      </a:pPr>
                      <a:r>
                        <a:rPr sz="2000"/>
                        <a:t>Replica-set copies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72B"/>
                          </a:solidFill>
                        </a:defRPr>
                      </a:pPr>
                      <a:r>
                        <a:rPr sz="2000" dirty="0"/>
                        <a:t>High availability; NOT a backup by itself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1. Logical Backup — mongodump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2716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 b="0">
                <a:solidFill>
                  <a:srgbClr val="23272B"/>
                </a:solidFill>
              </a:defRPr>
            </a:pPr>
            <a:r>
              <a:rPr dirty="0" err="1"/>
              <a:t>mongodump</a:t>
            </a:r>
            <a:r>
              <a:rPr dirty="0"/>
              <a:t> creates a logical backup of MongoDB data.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 b="0">
                <a:solidFill>
                  <a:srgbClr val="23272B"/>
                </a:solidFill>
              </a:defRPr>
            </a:pPr>
            <a:r>
              <a:rPr lang="en-IN" dirty="0"/>
              <a:t>R</a:t>
            </a:r>
            <a:r>
              <a:rPr dirty="0" err="1"/>
              <a:t>eads</a:t>
            </a:r>
            <a:r>
              <a:rPr dirty="0"/>
              <a:t> documents from MongoDB and writes BSON files plus collection metadata.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 b="0">
                <a:solidFill>
                  <a:srgbClr val="23272B"/>
                </a:solidFill>
              </a:defRPr>
            </a:pPr>
            <a:r>
              <a:rPr lang="en-IN" dirty="0"/>
              <a:t>C</a:t>
            </a:r>
            <a:r>
              <a:rPr dirty="0"/>
              <a:t>an back up an entire deployment, a database, or a collection.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 b="0">
                <a:solidFill>
                  <a:srgbClr val="23272B"/>
                </a:solidFill>
              </a:defRPr>
            </a:pPr>
            <a:r>
              <a:rPr lang="en-IN" dirty="0"/>
              <a:t>U</a:t>
            </a:r>
            <a:r>
              <a:rPr dirty="0" err="1"/>
              <a:t>seful</a:t>
            </a:r>
            <a:r>
              <a:rPr dirty="0"/>
              <a:t> for small/medium deployments, migration and selective recovery.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 b="0">
                <a:solidFill>
                  <a:srgbClr val="23272B"/>
                </a:solidFill>
              </a:defRPr>
            </a:pPr>
            <a:r>
              <a:rPr lang="en-IN" dirty="0"/>
              <a:t>Can c</a:t>
            </a:r>
            <a:r>
              <a:rPr dirty="0" err="1"/>
              <a:t>onsume</a:t>
            </a:r>
            <a:r>
              <a:rPr dirty="0"/>
              <a:t> database resources and is not automatically the best production strategy for very large deployments.</a:t>
            </a:r>
            <a:endParaRPr lang="en-IN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 b="0">
                <a:solidFill>
                  <a:srgbClr val="23272B"/>
                </a:solidFill>
              </a:defRPr>
            </a:pPr>
            <a:r>
              <a:rPr lang="en-IN" sz="1900" dirty="0">
                <a:solidFill>
                  <a:srgbClr val="23272B"/>
                </a:solidFill>
              </a:rPr>
              <a:t>creates a dump directory with the various </a:t>
            </a:r>
            <a:r>
              <a:rPr lang="en-IN" sz="1900" dirty="0" err="1">
                <a:solidFill>
                  <a:srgbClr val="23272B"/>
                </a:solidFill>
              </a:rPr>
              <a:t>bson</a:t>
            </a:r>
            <a:r>
              <a:rPr lang="en-IN" sz="1900" dirty="0">
                <a:solidFill>
                  <a:srgbClr val="23272B"/>
                </a:solidFill>
              </a:rPr>
              <a:t> files 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4892040"/>
            <a:ext cx="10972800" cy="914400"/>
          </a:xfrm>
          <a:prstGeom prst="roundRect">
            <a:avLst/>
          </a:prstGeom>
          <a:solidFill>
            <a:srgbClr val="1D2126"/>
          </a:solidFill>
          <a:ln>
            <a:solidFill>
              <a:srgbClr val="41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tlCol="0" anchor="ctr"/>
          <a:lstStyle/>
          <a:p>
            <a:pPr algn="ctr">
              <a:defRPr sz="1500">
                <a:solidFill>
                  <a:srgbClr val="E8ECF0"/>
                </a:solidFill>
                <a:latin typeface="Consolas"/>
              </a:defRPr>
            </a:pPr>
            <a:r>
              <a:t>mongodump --uri="mongodb://localhost:27017"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rPr dirty="0"/>
              <a:t>What Does </a:t>
            </a:r>
            <a:r>
              <a:rPr dirty="0" err="1"/>
              <a:t>mongodump</a:t>
            </a:r>
            <a:r>
              <a:rPr dirty="0"/>
              <a:t> Produce?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4937760" cy="4297680"/>
          </a:xfrm>
          <a:prstGeom prst="roundRect">
            <a:avLst/>
          </a:prstGeom>
          <a:solidFill>
            <a:srgbClr val="1D2126"/>
          </a:solidFill>
          <a:ln>
            <a:solidFill>
              <a:srgbClr val="41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tlCol="0" anchor="ctr"/>
          <a:lstStyle/>
          <a:p>
            <a:pPr algn="ctr">
              <a:defRPr sz="1500">
                <a:solidFill>
                  <a:srgbClr val="E8ECF0"/>
                </a:solidFill>
                <a:latin typeface="Consolas"/>
              </a:defRPr>
            </a:pP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126480" y="1508760"/>
            <a:ext cx="4937760" cy="1234440"/>
          </a:xfrm>
          <a:prstGeom prst="roundRect">
            <a:avLst/>
          </a:prstGeom>
          <a:solidFill>
            <a:srgbClr val="E5EFFA"/>
          </a:solidFill>
          <a:ln>
            <a:solidFill>
              <a:srgbClr val="18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82A42"/>
                </a:solidFill>
              </a:defRPr>
            </a:pPr>
            <a:r>
              <a:t>.bson</a:t>
            </a:r>
          </a:p>
          <a:p>
            <a:pPr>
              <a:spcBef>
                <a:spcPts val="500"/>
              </a:spcBef>
              <a:defRPr sz="1300">
                <a:solidFill>
                  <a:srgbClr val="23272B"/>
                </a:solidFill>
              </a:defRPr>
            </a:pPr>
            <a:r>
              <a:t>Contains the actual BSON representation of documents.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2971800"/>
            <a:ext cx="4937760" cy="1417320"/>
          </a:xfrm>
          <a:prstGeom prst="roundRect">
            <a:avLst/>
          </a:prstGeom>
          <a:solidFill>
            <a:srgbClr val="E6F5EC"/>
          </a:solidFill>
          <a:ln>
            <a:solidFill>
              <a:srgbClr val="2E7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E7D54"/>
                </a:solidFill>
              </a:defRPr>
            </a:pPr>
            <a:r>
              <a:t>.metadata.json</a:t>
            </a:r>
          </a:p>
          <a:p>
            <a:pPr>
              <a:spcBef>
                <a:spcPts val="500"/>
              </a:spcBef>
              <a:defRPr sz="1300">
                <a:solidFill>
                  <a:srgbClr val="23272B"/>
                </a:solidFill>
              </a:defRPr>
            </a:pPr>
            <a:r>
              <a:t>Contains collection metadata such as indexes and collection options.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4617720"/>
            <a:ext cx="4937760" cy="1143000"/>
          </a:xfrm>
          <a:prstGeom prst="roundRect">
            <a:avLst/>
          </a:prstGeom>
          <a:solidFill>
            <a:srgbClr val="FCEFDE"/>
          </a:solidFill>
          <a:ln>
            <a:solidFill>
              <a:srgbClr val="CD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CD7023"/>
                </a:solidFill>
              </a:defRPr>
            </a:pPr>
            <a:r>
              <a:t>oplog.bson</a:t>
            </a:r>
          </a:p>
          <a:p>
            <a:pPr>
              <a:spcBef>
                <a:spcPts val="500"/>
              </a:spcBef>
              <a:defRPr sz="1300">
                <a:solidFill>
                  <a:srgbClr val="23272B"/>
                </a:solidFill>
              </a:defRPr>
            </a:pPr>
            <a:r>
              <a:t>Appears when oplog capture is requested; contains operations captured during the dump.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ACED0E-3BE6-6D02-C334-268F45C00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121" y="1791296"/>
            <a:ext cx="3779795" cy="29909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615DDE-8618-1E3C-3321-AF3125238ED9}"/>
              </a:ext>
            </a:extLst>
          </p:cNvPr>
          <p:cNvSpPr txBox="1"/>
          <p:nvPr/>
        </p:nvSpPr>
        <p:spPr>
          <a:xfrm>
            <a:off x="816603" y="311034"/>
            <a:ext cx="10625622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What exactly is being backed up?</a:t>
            </a:r>
          </a:p>
          <a:p>
            <a:pPr>
              <a:buNone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 MongoDB logical dump generally contains: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IN" b="1" dirty="0">
                <a:latin typeface="+mn-lt"/>
              </a:rPr>
              <a:t>.</a:t>
            </a:r>
            <a:r>
              <a:rPr lang="en-IN" b="1" dirty="0" err="1">
                <a:latin typeface="+mn-lt"/>
              </a:rPr>
              <a:t>bson</a:t>
            </a:r>
            <a:r>
              <a:rPr lang="en-IN" b="1" dirty="0">
                <a:latin typeface="+mn-lt"/>
              </a:rPr>
              <a:t> --</a:t>
            </a:r>
            <a:r>
              <a:rPr lang="en-IN" dirty="0"/>
              <a:t>The actual documents.</a:t>
            </a:r>
          </a:p>
          <a:p>
            <a:r>
              <a:rPr lang="en-IN" dirty="0"/>
              <a:t>Example: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+mn-lt"/>
              </a:rPr>
              <a:t>employees.bson</a:t>
            </a:r>
            <a:r>
              <a:rPr lang="en-IN" dirty="0">
                <a:latin typeface="+mn-lt"/>
              </a:rPr>
              <a:t> --C</a:t>
            </a:r>
            <a:r>
              <a:rPr lang="en-IN" dirty="0"/>
              <a:t>ontains BSON representations of the employee documents.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+mn-lt"/>
              </a:rPr>
              <a:t>.</a:t>
            </a:r>
            <a:r>
              <a:rPr lang="en-IN" b="1" dirty="0" err="1">
                <a:latin typeface="+mn-lt"/>
              </a:rPr>
              <a:t>metadata.json</a:t>
            </a:r>
            <a:r>
              <a:rPr lang="en-IN" b="1" dirty="0">
                <a:latin typeface="+mn-lt"/>
              </a:rPr>
              <a:t> : </a:t>
            </a:r>
            <a:r>
              <a:rPr lang="en-IN" dirty="0"/>
              <a:t>Metadata about the collection, such as: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indexes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collection options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other collection metadata </a:t>
            </a:r>
          </a:p>
          <a:p>
            <a:r>
              <a:rPr lang="en-IN" dirty="0"/>
              <a:t>example: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	</a:t>
            </a:r>
            <a:r>
              <a:rPr lang="en-IN" dirty="0" err="1">
                <a:latin typeface="+mn-lt"/>
              </a:rPr>
              <a:t>employees.metadata.json</a:t>
            </a:r>
            <a:endParaRPr lang="en-IN" dirty="0">
              <a:latin typeface="+mn-lt"/>
            </a:endParaRPr>
          </a:p>
          <a:p>
            <a:pPr>
              <a:buNone/>
            </a:pPr>
            <a:endParaRPr lang="en-IN" dirty="0"/>
          </a:p>
          <a:p>
            <a:pPr rtl="0">
              <a:buNone/>
            </a:pPr>
            <a:r>
              <a:rPr lang="en-IN" dirty="0" err="1">
                <a:solidFill>
                  <a:srgbClr val="C00000"/>
                </a:solidFill>
                <a:latin typeface="+mn-lt"/>
              </a:rPr>
              <a:t>employees.bson</a:t>
            </a:r>
            <a:endParaRPr lang="en-IN" dirty="0">
              <a:solidFill>
                <a:srgbClr val="C00000"/>
              </a:solidFill>
              <a:latin typeface="+mn-lt"/>
            </a:endParaRPr>
          </a:p>
          <a:p>
            <a:pPr rtl="0">
              <a:buNone/>
            </a:pPr>
            <a:r>
              <a:rPr lang="en-IN" dirty="0">
                <a:solidFill>
                  <a:srgbClr val="C00000"/>
                </a:solidFill>
                <a:latin typeface="+mn-lt"/>
              </a:rPr>
              <a:t>        +</a:t>
            </a:r>
          </a:p>
          <a:p>
            <a:pPr rtl="0">
              <a:buNone/>
            </a:pPr>
            <a:r>
              <a:rPr lang="en-IN" dirty="0" err="1">
                <a:solidFill>
                  <a:srgbClr val="C00000"/>
                </a:solidFill>
                <a:latin typeface="+mn-lt"/>
              </a:rPr>
              <a:t>employees.metadata.json</a:t>
            </a:r>
            <a:endParaRPr lang="en-IN" dirty="0">
              <a:solidFill>
                <a:srgbClr val="C00000"/>
              </a:solidFill>
              <a:latin typeface="+mn-lt"/>
            </a:endParaRPr>
          </a:p>
          <a:p>
            <a:pPr rtl="0">
              <a:buNone/>
            </a:pPr>
            <a:r>
              <a:rPr lang="en-IN" dirty="0">
                <a:solidFill>
                  <a:srgbClr val="C00000"/>
                </a:solidFill>
                <a:latin typeface="+mn-lt"/>
              </a:rPr>
              <a:t>        ↓</a:t>
            </a:r>
          </a:p>
          <a:p>
            <a:pPr rtl="0">
              <a:buNone/>
            </a:pPr>
            <a:r>
              <a:rPr lang="en-IN" dirty="0" err="1">
                <a:solidFill>
                  <a:srgbClr val="C00000"/>
                </a:solidFill>
                <a:latin typeface="+mn-lt"/>
              </a:rPr>
              <a:t>mongorestore</a:t>
            </a:r>
            <a:endParaRPr lang="en-IN" dirty="0">
              <a:solidFill>
                <a:srgbClr val="C00000"/>
              </a:solidFill>
              <a:latin typeface="+mn-lt"/>
            </a:endParaRPr>
          </a:p>
          <a:p>
            <a:pPr rtl="0">
              <a:buNone/>
            </a:pPr>
            <a:r>
              <a:rPr lang="en-IN" dirty="0">
                <a:solidFill>
                  <a:srgbClr val="C00000"/>
                </a:solidFill>
                <a:latin typeface="+mn-lt"/>
              </a:rPr>
              <a:t>        ↓</a:t>
            </a:r>
          </a:p>
          <a:p>
            <a:pPr rtl="0">
              <a:buNone/>
            </a:pPr>
            <a:r>
              <a:rPr lang="en-IN" dirty="0">
                <a:solidFill>
                  <a:srgbClr val="C00000"/>
                </a:solidFill>
                <a:latin typeface="+mn-lt"/>
              </a:rPr>
              <a:t>employees collection</a:t>
            </a:r>
            <a:endParaRPr lang="en-IN" dirty="0">
              <a:solidFill>
                <a:srgbClr val="C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101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Backing Up a Database or Collection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521208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18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82A42"/>
                </a:solidFill>
              </a:defRPr>
            </a:pPr>
            <a:r>
              <a:t>Entire database</a:t>
            </a:r>
          </a:p>
          <a:p>
            <a:pPr>
              <a:spcBef>
                <a:spcPts val="500"/>
              </a:spcBef>
              <a:defRPr sz="1300">
                <a:solidFill>
                  <a:srgbClr val="23272B"/>
                </a:solidFill>
              </a:defRPr>
            </a:pPr>
            <a:r>
              <a:t>Back up the company database.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40280"/>
            <a:ext cx="5212080" cy="1508760"/>
          </a:xfrm>
          <a:prstGeom prst="roundRect">
            <a:avLst/>
          </a:prstGeom>
          <a:solidFill>
            <a:srgbClr val="1D2126"/>
          </a:solidFill>
          <a:ln>
            <a:solidFill>
              <a:srgbClr val="41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tlCol="0" anchor="ctr"/>
          <a:lstStyle/>
          <a:p>
            <a:pPr algn="ctr">
              <a:defRPr sz="1400">
                <a:solidFill>
                  <a:srgbClr val="E8ECF0"/>
                </a:solidFill>
                <a:latin typeface="Consolas"/>
              </a:defRPr>
            </a:pPr>
            <a:r>
              <a:t>mongodump \</a:t>
            </a:r>
            <a:br/>
            <a:r>
              <a:t>  --uri="mongodb://localhost:27017" \</a:t>
            </a:r>
            <a:br/>
            <a:r>
              <a:t>  --db=company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34440"/>
            <a:ext cx="521208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18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82A42"/>
                </a:solidFill>
              </a:defRPr>
            </a:pPr>
            <a:r>
              <a:t>Specific collection</a:t>
            </a:r>
          </a:p>
          <a:p>
            <a:pPr>
              <a:spcBef>
                <a:spcPts val="500"/>
              </a:spcBef>
              <a:defRPr sz="1300">
                <a:solidFill>
                  <a:srgbClr val="23272B"/>
                </a:solidFill>
              </a:defRPr>
            </a:pPr>
            <a:r>
              <a:t>Back up only company.employees.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240280"/>
            <a:ext cx="5212080" cy="1828800"/>
          </a:xfrm>
          <a:prstGeom prst="roundRect">
            <a:avLst/>
          </a:prstGeom>
          <a:solidFill>
            <a:srgbClr val="1D2126"/>
          </a:solidFill>
          <a:ln>
            <a:solidFill>
              <a:srgbClr val="41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tlCol="0" anchor="ctr"/>
          <a:lstStyle/>
          <a:p>
            <a:pPr algn="ctr">
              <a:defRPr sz="1300">
                <a:solidFill>
                  <a:srgbClr val="E8ECF0"/>
                </a:solidFill>
                <a:latin typeface="Consolas"/>
              </a:defRPr>
            </a:pPr>
            <a:r>
              <a:t>mongodump \</a:t>
            </a:r>
            <a:br/>
            <a:r>
              <a:t>  --uri="mongodb://localhost:27017" \</a:t>
            </a:r>
            <a:br/>
            <a:r>
              <a:t>  --db=company \</a:t>
            </a:r>
            <a:br/>
            <a:r>
              <a:t>  --collection=employees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FF396F-10CC-45EF-280C-52A0F3D2DDCC}"/>
              </a:ext>
            </a:extLst>
          </p:cNvPr>
          <p:cNvSpPr txBox="1"/>
          <p:nvPr/>
        </p:nvSpPr>
        <p:spPr>
          <a:xfrm>
            <a:off x="1297031" y="4298733"/>
            <a:ext cx="3646597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dump/</a:t>
            </a:r>
          </a:p>
          <a:p>
            <a:r>
              <a:rPr lang="en-IN" dirty="0"/>
              <a:t>└── company/</a:t>
            </a:r>
          </a:p>
          <a:p>
            <a:r>
              <a:rPr lang="en-IN" dirty="0"/>
              <a:t>    ├── </a:t>
            </a:r>
            <a:r>
              <a:rPr lang="en-IN" dirty="0" err="1"/>
              <a:t>employees.bson</a:t>
            </a:r>
            <a:endParaRPr lang="en-IN" dirty="0"/>
          </a:p>
          <a:p>
            <a:r>
              <a:rPr lang="en-IN" dirty="0"/>
              <a:t>    ├── </a:t>
            </a:r>
            <a:r>
              <a:rPr lang="en-IN" dirty="0" err="1"/>
              <a:t>employees.metadata.json</a:t>
            </a:r>
            <a:endParaRPr lang="en-IN" dirty="0"/>
          </a:p>
          <a:p>
            <a:r>
              <a:rPr lang="en-IN" dirty="0"/>
              <a:t>    ├── </a:t>
            </a:r>
            <a:r>
              <a:rPr lang="en-IN" dirty="0" err="1"/>
              <a:t>departments.bson</a:t>
            </a:r>
            <a:endParaRPr lang="en-IN" dirty="0"/>
          </a:p>
          <a:p>
            <a:r>
              <a:rPr lang="en-IN" dirty="0"/>
              <a:t>    └── </a:t>
            </a:r>
            <a:r>
              <a:rPr lang="en-IN" dirty="0" err="1"/>
              <a:t>projects.bson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Backup Destination and Compressed Archive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5212080" cy="1645920"/>
          </a:xfrm>
          <a:prstGeom prst="roundRect">
            <a:avLst/>
          </a:prstGeom>
          <a:solidFill>
            <a:srgbClr val="1D2126"/>
          </a:solidFill>
          <a:ln>
            <a:solidFill>
              <a:srgbClr val="41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tlCol="0" anchor="ctr"/>
          <a:lstStyle/>
          <a:p>
            <a:pPr algn="ctr">
              <a:defRPr sz="1400">
                <a:solidFill>
                  <a:srgbClr val="E8ECF0"/>
                </a:solidFill>
                <a:latin typeface="Consolas"/>
              </a:defRPr>
            </a:pPr>
            <a:r>
              <a:t>mongodump \</a:t>
            </a:r>
            <a:br/>
            <a:r>
              <a:t>  --uri="mongodb://localhost:27017" \</a:t>
            </a:r>
            <a:br/>
            <a:r>
              <a:t>  --db=company \</a:t>
            </a:r>
            <a:br/>
            <a:r>
              <a:t>  --out=/backup/mongodb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234440"/>
            <a:ext cx="5212080" cy="2011680"/>
          </a:xfrm>
          <a:prstGeom prst="roundRect">
            <a:avLst/>
          </a:prstGeom>
          <a:solidFill>
            <a:srgbClr val="1D2126"/>
          </a:solidFill>
          <a:ln>
            <a:solidFill>
              <a:srgbClr val="41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tlCol="0" anchor="ctr"/>
          <a:lstStyle/>
          <a:p>
            <a:pPr algn="ctr">
              <a:defRPr sz="1300">
                <a:solidFill>
                  <a:srgbClr val="E8ECF0"/>
                </a:solidFill>
                <a:latin typeface="Consolas"/>
              </a:defRPr>
            </a:pPr>
            <a:r>
              <a:t>mongodump \</a:t>
            </a:r>
            <a:br/>
            <a:r>
              <a:t>  --uri="mongodb://localhost:27017" \</a:t>
            </a:r>
            <a:br/>
            <a:r>
              <a:t>  --db=company \</a:t>
            </a:r>
            <a:br/>
            <a:r>
              <a:t>  --archive=/backup/company.archive \</a:t>
            </a:r>
            <a:br/>
            <a:r>
              <a:t>  --gzip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559552"/>
            <a:ext cx="10881360" cy="1097280"/>
          </a:xfrm>
          <a:prstGeom prst="roundRect">
            <a:avLst/>
          </a:prstGeom>
          <a:solidFill>
            <a:srgbClr val="E6F5EC"/>
          </a:solidFill>
          <a:ln>
            <a:solidFill>
              <a:srgbClr val="2E7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E7D54"/>
                </a:solidFill>
              </a:defRPr>
            </a:pPr>
            <a:r>
              <a:t>Why --archive + --gzip?</a:t>
            </a:r>
          </a:p>
          <a:p>
            <a:pPr>
              <a:spcBef>
                <a:spcPts val="500"/>
              </a:spcBef>
              <a:defRPr sz="1300">
                <a:solidFill>
                  <a:srgbClr val="23272B"/>
                </a:solidFill>
              </a:defRPr>
            </a:pPr>
            <a:r>
              <a:t>Creates a compact archive that is convenient for transfer and storage.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D3FAE1-BDD0-0155-E8B7-8FF40B8381BC}"/>
              </a:ext>
            </a:extLst>
          </p:cNvPr>
          <p:cNvSpPr txBox="1"/>
          <p:nvPr/>
        </p:nvSpPr>
        <p:spPr>
          <a:xfrm>
            <a:off x="640080" y="3306045"/>
            <a:ext cx="5212080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/backup/</a:t>
            </a:r>
            <a:r>
              <a:rPr lang="en-IN" dirty="0" err="1"/>
              <a:t>mongodb</a:t>
            </a:r>
            <a:r>
              <a:rPr lang="en-IN" dirty="0"/>
              <a:t>/</a:t>
            </a:r>
          </a:p>
          <a:p>
            <a:r>
              <a:rPr lang="en-IN" dirty="0"/>
              <a:t>└── company/</a:t>
            </a:r>
          </a:p>
          <a:p>
            <a:r>
              <a:rPr lang="en-IN" dirty="0"/>
              <a:t>    ├── </a:t>
            </a:r>
            <a:r>
              <a:rPr lang="en-IN" dirty="0" err="1"/>
              <a:t>employees.bson</a:t>
            </a:r>
            <a:endParaRPr lang="en-IN" dirty="0"/>
          </a:p>
          <a:p>
            <a:r>
              <a:rPr lang="en-IN" dirty="0"/>
              <a:t>    ├── </a:t>
            </a:r>
            <a:r>
              <a:rPr lang="en-IN" dirty="0" err="1"/>
              <a:t>employees.metadata.json</a:t>
            </a:r>
            <a:endParaRPr lang="en-IN" dirty="0"/>
          </a:p>
          <a:p>
            <a:r>
              <a:rPr lang="en-IN" dirty="0"/>
              <a:t>    └── 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Authentication and Secure Credential Handling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881360" cy="1828800"/>
          </a:xfrm>
          <a:prstGeom prst="roundRect">
            <a:avLst/>
          </a:prstGeom>
          <a:solidFill>
            <a:srgbClr val="1D2126"/>
          </a:solidFill>
          <a:ln>
            <a:solidFill>
              <a:srgbClr val="41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tlCol="0" anchor="ctr"/>
          <a:lstStyle/>
          <a:p>
            <a:pPr algn="ctr">
              <a:defRPr sz="1400">
                <a:solidFill>
                  <a:srgbClr val="E8ECF0"/>
                </a:solidFill>
                <a:latin typeface="Consolas"/>
              </a:defRPr>
            </a:pPr>
            <a:r>
              <a:t>mongodump \</a:t>
            </a:r>
            <a:br/>
            <a:r>
              <a:t>  --uri="mongodb://backupUser:password@localhost:27017/company?authSource=admin" \</a:t>
            </a:r>
            <a:br/>
            <a:r>
              <a:t>  --out=/backup/company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1079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 b="0">
                <a:solidFill>
                  <a:srgbClr val="23272B"/>
                </a:solidFill>
              </a:defRPr>
            </a:pPr>
            <a:r>
              <a:rPr dirty="0"/>
              <a:t>Avoid putting production passwords directly on the command line.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 b="0">
                <a:solidFill>
                  <a:srgbClr val="23272B"/>
                </a:solidFill>
              </a:defRPr>
            </a:pPr>
            <a:r>
              <a:rPr dirty="0"/>
              <a:t>Command-line credentials may appear in shell history or process information.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 b="0">
                <a:solidFill>
                  <a:srgbClr val="23272B"/>
                </a:solidFill>
              </a:defRPr>
            </a:pPr>
            <a:r>
              <a:rPr dirty="0"/>
              <a:t>Use secure credential handling appropriate to your environment.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Replica Sets: mongodump with --oplog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5212080" cy="1828800"/>
          </a:xfrm>
          <a:prstGeom prst="roundRect">
            <a:avLst/>
          </a:prstGeom>
          <a:solidFill>
            <a:srgbClr val="1D2126"/>
          </a:solidFill>
          <a:ln>
            <a:solidFill>
              <a:srgbClr val="41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tlCol="0" anchor="ctr"/>
          <a:lstStyle/>
          <a:p>
            <a:pPr algn="ctr">
              <a:defRPr sz="1400">
                <a:solidFill>
                  <a:srgbClr val="E8ECF0"/>
                </a:solidFill>
                <a:latin typeface="Consolas"/>
              </a:defRPr>
            </a:pPr>
            <a:r>
              <a:t>mongodump \</a:t>
            </a:r>
            <a:br/>
            <a:r>
              <a:t>  --uri="mongodb://localhost:27017" \</a:t>
            </a:r>
            <a:br/>
            <a:r>
              <a:t>  --oplog \</a:t>
            </a:r>
            <a:br/>
            <a:r>
              <a:t>  --out=/backup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657600"/>
            <a:ext cx="237744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Database state</a:t>
            </a:r>
          </a:p>
        </p:txBody>
      </p:sp>
      <p:sp>
        <p:nvSpPr>
          <p:cNvPr id="5" name="Chevron 4"/>
          <p:cNvSpPr/>
          <p:nvPr/>
        </p:nvSpPr>
        <p:spPr>
          <a:xfrm>
            <a:off x="3136392" y="391363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66160" y="3657600"/>
            <a:ext cx="237744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BSON backup</a:t>
            </a:r>
          </a:p>
        </p:txBody>
      </p:sp>
      <p:sp>
        <p:nvSpPr>
          <p:cNvPr id="7" name="Chevron 6"/>
          <p:cNvSpPr/>
          <p:nvPr/>
        </p:nvSpPr>
        <p:spPr>
          <a:xfrm>
            <a:off x="6016752" y="391363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46520" y="3657600"/>
            <a:ext cx="237744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Captured oplog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983480"/>
            <a:ext cx="10789920" cy="914400"/>
          </a:xfrm>
          <a:prstGeom prst="roundRect">
            <a:avLst/>
          </a:prstGeom>
          <a:solidFill>
            <a:srgbClr val="FCEFDE"/>
          </a:solidFill>
          <a:ln>
            <a:solidFill>
              <a:srgbClr val="CD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CD7023"/>
                </a:solidFill>
              </a:defRPr>
            </a:pPr>
            <a:r>
              <a:t>Why?</a:t>
            </a:r>
          </a:p>
          <a:p>
            <a:pPr>
              <a:spcBef>
                <a:spcPts val="500"/>
              </a:spcBef>
              <a:defRPr sz="1300">
                <a:solidFill>
                  <a:srgbClr val="23272B"/>
                </a:solidFill>
              </a:defRPr>
            </a:pPr>
            <a:r>
              <a:t>If data changes while a dump is running, the captured oplog can be used during recovery to account for operations occurring during the backup window.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B4133B-96E5-C694-2CF8-219AA25DCE82}"/>
              </a:ext>
            </a:extLst>
          </p:cNvPr>
          <p:cNvSpPr txBox="1"/>
          <p:nvPr/>
        </p:nvSpPr>
        <p:spPr>
          <a:xfrm>
            <a:off x="886284" y="166956"/>
            <a:ext cx="10203872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Suppose MongoDB is continuously receiving writes: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10:00  Order A created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10:01  Order B created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10:02  Order C created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10:03  Backup starts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10:04  Order D created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10:05  Order E created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10:06  Backup finishes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If the database is changing while </a:t>
            </a:r>
            <a:r>
              <a:rPr lang="en-IN" dirty="0" err="1"/>
              <a:t>mongodump</a:t>
            </a:r>
            <a:r>
              <a:rPr lang="en-IN" dirty="0"/>
              <a:t> is running, need to think about </a:t>
            </a:r>
            <a:r>
              <a:rPr lang="en-IN" b="1" dirty="0"/>
              <a:t>consistency</a:t>
            </a:r>
            <a:r>
              <a:rPr lang="en-I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For replica-set deployments, </a:t>
            </a:r>
            <a:r>
              <a:rPr lang="en-IN" dirty="0" err="1"/>
              <a:t>mongodump</a:t>
            </a:r>
            <a:r>
              <a:rPr lang="en-IN" dirty="0"/>
              <a:t> can capture the </a:t>
            </a:r>
            <a:r>
              <a:rPr lang="en-IN" dirty="0" err="1"/>
              <a:t>oplog</a:t>
            </a:r>
            <a:r>
              <a:rPr lang="en-IN" dirty="0"/>
              <a:t>:</a:t>
            </a:r>
          </a:p>
          <a:p>
            <a:r>
              <a:rPr lang="en-IN" dirty="0" err="1">
                <a:solidFill>
                  <a:srgbClr val="C00000"/>
                </a:solidFill>
              </a:rPr>
              <a:t>mongodump</a:t>
            </a:r>
            <a:r>
              <a:rPr lang="en-IN" dirty="0">
                <a:solidFill>
                  <a:srgbClr val="C00000"/>
                </a:solidFill>
              </a:rPr>
              <a:t> \</a:t>
            </a:r>
          </a:p>
          <a:p>
            <a:r>
              <a:rPr lang="en-IN" dirty="0">
                <a:solidFill>
                  <a:srgbClr val="C00000"/>
                </a:solidFill>
              </a:rPr>
              <a:t>  --</a:t>
            </a:r>
            <a:r>
              <a:rPr lang="en-IN" dirty="0" err="1">
                <a:solidFill>
                  <a:srgbClr val="C00000"/>
                </a:solidFill>
              </a:rPr>
              <a:t>uri</a:t>
            </a:r>
            <a:r>
              <a:rPr lang="en-IN" dirty="0">
                <a:solidFill>
                  <a:srgbClr val="C00000"/>
                </a:solidFill>
              </a:rPr>
              <a:t>="</a:t>
            </a:r>
            <a:r>
              <a:rPr lang="en-IN" dirty="0" err="1">
                <a:solidFill>
                  <a:srgbClr val="C00000"/>
                </a:solidFill>
              </a:rPr>
              <a:t>mongodb</a:t>
            </a:r>
            <a:r>
              <a:rPr lang="en-IN" dirty="0">
                <a:solidFill>
                  <a:srgbClr val="C00000"/>
                </a:solidFill>
              </a:rPr>
              <a:t>://localhost:27017" \</a:t>
            </a:r>
          </a:p>
          <a:p>
            <a:r>
              <a:rPr lang="en-IN" dirty="0">
                <a:solidFill>
                  <a:srgbClr val="C00000"/>
                </a:solidFill>
              </a:rPr>
              <a:t>  --</a:t>
            </a:r>
            <a:r>
              <a:rPr lang="en-IN" dirty="0" err="1">
                <a:solidFill>
                  <a:srgbClr val="C00000"/>
                </a:solidFill>
              </a:rPr>
              <a:t>oplog</a:t>
            </a:r>
            <a:r>
              <a:rPr lang="en-IN" dirty="0">
                <a:solidFill>
                  <a:srgbClr val="C00000"/>
                </a:solidFill>
              </a:rPr>
              <a:t> \</a:t>
            </a:r>
          </a:p>
          <a:p>
            <a:r>
              <a:rPr lang="en-IN" dirty="0">
                <a:solidFill>
                  <a:srgbClr val="C00000"/>
                </a:solidFill>
              </a:rPr>
              <a:t>  --out=/backup</a:t>
            </a:r>
          </a:p>
          <a:p>
            <a:r>
              <a:rPr lang="en-IN" dirty="0"/>
              <a:t>This creates:</a:t>
            </a:r>
          </a:p>
          <a:p>
            <a:r>
              <a:rPr lang="en-IN" dirty="0">
                <a:solidFill>
                  <a:srgbClr val="C00000"/>
                </a:solidFill>
              </a:rPr>
              <a:t>dump/</a:t>
            </a:r>
          </a:p>
          <a:p>
            <a:r>
              <a:rPr lang="en-IN" dirty="0">
                <a:solidFill>
                  <a:srgbClr val="C00000"/>
                </a:solidFill>
              </a:rPr>
              <a:t>├── company/</a:t>
            </a:r>
          </a:p>
          <a:p>
            <a:r>
              <a:rPr lang="en-IN" dirty="0">
                <a:solidFill>
                  <a:srgbClr val="C00000"/>
                </a:solidFill>
              </a:rPr>
              <a:t>│   ├── </a:t>
            </a:r>
            <a:r>
              <a:rPr lang="en-IN" dirty="0" err="1">
                <a:solidFill>
                  <a:srgbClr val="C00000"/>
                </a:solidFill>
              </a:rPr>
              <a:t>employees.bson</a:t>
            </a:r>
            <a:endParaRPr lang="en-IN" dirty="0">
              <a:solidFill>
                <a:srgbClr val="C00000"/>
              </a:solidFill>
            </a:endParaRPr>
          </a:p>
          <a:p>
            <a:r>
              <a:rPr lang="en-IN" dirty="0">
                <a:solidFill>
                  <a:srgbClr val="C00000"/>
                </a:solidFill>
              </a:rPr>
              <a:t>│   └── ...</a:t>
            </a:r>
          </a:p>
          <a:p>
            <a:r>
              <a:rPr lang="en-IN" dirty="0">
                <a:solidFill>
                  <a:srgbClr val="C00000"/>
                </a:solidFill>
              </a:rPr>
              <a:t>└── </a:t>
            </a:r>
            <a:r>
              <a:rPr lang="en-IN" dirty="0" err="1">
                <a:solidFill>
                  <a:srgbClr val="C00000"/>
                </a:solidFill>
              </a:rPr>
              <a:t>oplog.bson</a:t>
            </a:r>
            <a:endParaRPr lang="en-IN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oplog</a:t>
            </a:r>
            <a:r>
              <a:rPr lang="en-IN" dirty="0"/>
              <a:t> contains operations that occurred during the dump.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Becomes important when restoring a logically consistent backup of a replica set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781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2. Logical Restore — mongorestore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80160"/>
            <a:ext cx="5212080" cy="1600200"/>
          </a:xfrm>
          <a:prstGeom prst="roundRect">
            <a:avLst/>
          </a:prstGeom>
          <a:solidFill>
            <a:srgbClr val="1D2126"/>
          </a:solidFill>
          <a:ln>
            <a:solidFill>
              <a:srgbClr val="41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tlCol="0" anchor="ctr"/>
          <a:lstStyle/>
          <a:p>
            <a:pPr algn="ctr">
              <a:defRPr sz="1400">
                <a:solidFill>
                  <a:srgbClr val="E8ECF0"/>
                </a:solidFill>
                <a:latin typeface="Consolas"/>
              </a:defRPr>
            </a:pPr>
            <a:r>
              <a:t>mongorestore \</a:t>
            </a:r>
            <a:br/>
            <a:r>
              <a:t>  --uri="mongodb://localhost:27017" \</a:t>
            </a:r>
            <a:br/>
            <a:r>
              <a:t>  /backup/mongodb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280160"/>
            <a:ext cx="5212080" cy="1783080"/>
          </a:xfrm>
          <a:prstGeom prst="roundRect">
            <a:avLst/>
          </a:prstGeom>
          <a:solidFill>
            <a:srgbClr val="1D2126"/>
          </a:solidFill>
          <a:ln>
            <a:solidFill>
              <a:srgbClr val="41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tlCol="0" anchor="ctr"/>
          <a:lstStyle/>
          <a:p>
            <a:pPr algn="ctr">
              <a:defRPr sz="1300">
                <a:solidFill>
                  <a:srgbClr val="E8ECF0"/>
                </a:solidFill>
                <a:latin typeface="Consolas"/>
              </a:defRPr>
            </a:pPr>
            <a:r>
              <a:t>mongorestore \</a:t>
            </a:r>
            <a:br/>
            <a:r>
              <a:t>  --uri="mongodb://localhost:27017" \</a:t>
            </a:r>
            <a:br/>
            <a:r>
              <a:t>  --archive=/backup/company.archive \</a:t>
            </a:r>
            <a:br/>
            <a:r>
              <a:t>  --gzip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657600"/>
            <a:ext cx="10789920" cy="1143000"/>
          </a:xfrm>
          <a:prstGeom prst="roundRect">
            <a:avLst/>
          </a:prstGeom>
          <a:solidFill>
            <a:srgbClr val="E6F5EC"/>
          </a:solidFill>
          <a:ln>
            <a:solidFill>
              <a:srgbClr val="2E7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E7D54"/>
                </a:solidFill>
              </a:defRPr>
            </a:pPr>
            <a:r>
              <a:t>Remember the pair</a:t>
            </a:r>
          </a:p>
          <a:p>
            <a:pPr>
              <a:spcBef>
                <a:spcPts val="500"/>
              </a:spcBef>
              <a:defRPr sz="1300">
                <a:solidFill>
                  <a:srgbClr val="23272B"/>
                </a:solidFill>
              </a:defRPr>
            </a:pPr>
            <a:r>
              <a:t>mongodump → mongorestore    |    --archive → --archive    |    --gzip → --gzip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Restore into Another Database / Drop Existing Collections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88720"/>
            <a:ext cx="5394960" cy="2148840"/>
          </a:xfrm>
          <a:prstGeom prst="roundRect">
            <a:avLst/>
          </a:prstGeom>
          <a:solidFill>
            <a:srgbClr val="1D2126"/>
          </a:solidFill>
          <a:ln>
            <a:solidFill>
              <a:srgbClr val="41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tlCol="0" anchor="ctr"/>
          <a:lstStyle/>
          <a:p>
            <a:pPr algn="ctr">
              <a:defRPr sz="1300">
                <a:solidFill>
                  <a:srgbClr val="E8ECF0"/>
                </a:solidFill>
                <a:latin typeface="Consolas"/>
              </a:defRPr>
            </a:pPr>
            <a:r>
              <a:t>mongorestore \</a:t>
            </a:r>
            <a:br/>
            <a:r>
              <a:t>  --uri="mongodb://localhost:27017" \</a:t>
            </a:r>
            <a:br/>
            <a:r>
              <a:t>  --nsFrom="company.*" \</a:t>
            </a:r>
            <a:br/>
            <a:r>
              <a:t>  --nsTo="company_test.*" \</a:t>
            </a:r>
            <a:br/>
            <a:r>
              <a:t>  /backup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188720"/>
            <a:ext cx="5029200" cy="1691640"/>
          </a:xfrm>
          <a:prstGeom prst="roundRect">
            <a:avLst/>
          </a:prstGeom>
          <a:solidFill>
            <a:srgbClr val="1D2126"/>
          </a:solidFill>
          <a:ln>
            <a:solidFill>
              <a:srgbClr val="41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tlCol="0" anchor="ctr"/>
          <a:lstStyle/>
          <a:p>
            <a:pPr algn="ctr">
              <a:defRPr sz="1400">
                <a:solidFill>
                  <a:srgbClr val="E8ECF0"/>
                </a:solidFill>
                <a:latin typeface="Consolas"/>
              </a:defRPr>
            </a:pPr>
            <a:r>
              <a:t>mongorestore \</a:t>
            </a:r>
            <a:br/>
            <a:r>
              <a:t>  --uri="mongodb://localhost:27017" \</a:t>
            </a:r>
            <a:br/>
            <a:r>
              <a:t>  --drop \</a:t>
            </a:r>
            <a:br/>
            <a:r>
              <a:t>  /backup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3886200"/>
            <a:ext cx="10789920" cy="1097280"/>
          </a:xfrm>
          <a:prstGeom prst="roundRect">
            <a:avLst/>
          </a:prstGeom>
          <a:solidFill>
            <a:srgbClr val="FAE6E6"/>
          </a:solidFill>
          <a:ln>
            <a:solidFill>
              <a:srgbClr val="B2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B23939"/>
                </a:solidFill>
              </a:defRPr>
            </a:pPr>
            <a:r>
              <a:t>--drop warning</a:t>
            </a:r>
          </a:p>
          <a:p>
            <a:pPr>
              <a:spcBef>
                <a:spcPts val="500"/>
              </a:spcBef>
              <a:defRPr sz="1300">
                <a:solidFill>
                  <a:srgbClr val="23272B"/>
                </a:solidFill>
              </a:defRPr>
            </a:pPr>
            <a:r>
              <a:t>Drops each target collection before restoring it. Potentially destructive — use deliberately.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D0A8BA-64AA-7531-0B7A-394C424C5BEF}"/>
              </a:ext>
            </a:extLst>
          </p:cNvPr>
          <p:cNvSpPr txBox="1"/>
          <p:nvPr/>
        </p:nvSpPr>
        <p:spPr>
          <a:xfrm>
            <a:off x="2059845" y="5058241"/>
            <a:ext cx="60951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Useful for: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Testing backups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Creating development environments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Data recovery validation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Troubleshooting production issues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Restore with Oplog Replay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5303520" cy="1828800"/>
          </a:xfrm>
          <a:prstGeom prst="roundRect">
            <a:avLst/>
          </a:prstGeom>
          <a:solidFill>
            <a:srgbClr val="1D2126"/>
          </a:solidFill>
          <a:ln>
            <a:solidFill>
              <a:srgbClr val="41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tlCol="0" anchor="ctr"/>
          <a:lstStyle/>
          <a:p>
            <a:pPr algn="ctr">
              <a:defRPr sz="1400">
                <a:solidFill>
                  <a:srgbClr val="E8ECF0"/>
                </a:solidFill>
                <a:latin typeface="Consolas"/>
              </a:defRPr>
            </a:pPr>
            <a:r>
              <a:t>mongorestore \</a:t>
            </a:r>
            <a:br/>
            <a:r>
              <a:t>  --uri="mongodb://localhost:27017" \</a:t>
            </a:r>
            <a:br/>
            <a:r>
              <a:t>  --oplogReplay \</a:t>
            </a:r>
            <a:br/>
            <a:r>
              <a:t>  /backup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57600"/>
            <a:ext cx="201168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BSON data</a:t>
            </a:r>
          </a:p>
        </p:txBody>
      </p:sp>
      <p:sp>
        <p:nvSpPr>
          <p:cNvPr id="5" name="Chevron 4"/>
          <p:cNvSpPr/>
          <p:nvPr/>
        </p:nvSpPr>
        <p:spPr>
          <a:xfrm>
            <a:off x="2724912" y="391363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971800" y="3657600"/>
            <a:ext cx="201168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+</a:t>
            </a:r>
          </a:p>
        </p:txBody>
      </p:sp>
      <p:sp>
        <p:nvSpPr>
          <p:cNvPr id="7" name="Chevron 6"/>
          <p:cNvSpPr/>
          <p:nvPr/>
        </p:nvSpPr>
        <p:spPr>
          <a:xfrm>
            <a:off x="5056632" y="391363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03520" y="3657600"/>
            <a:ext cx="201168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oplog.bson</a:t>
            </a:r>
          </a:p>
        </p:txBody>
      </p:sp>
      <p:sp>
        <p:nvSpPr>
          <p:cNvPr id="9" name="Chevron 8"/>
          <p:cNvSpPr/>
          <p:nvPr/>
        </p:nvSpPr>
        <p:spPr>
          <a:xfrm>
            <a:off x="7388352" y="391363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635240" y="3657600"/>
            <a:ext cx="201168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Recovered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92040"/>
            <a:ext cx="1088136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18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82A42"/>
                </a:solidFill>
              </a:defRPr>
            </a:pPr>
            <a:r>
              <a:t>Concept</a:t>
            </a:r>
          </a:p>
          <a:p>
            <a:pPr>
              <a:spcBef>
                <a:spcPts val="500"/>
              </a:spcBef>
              <a:defRPr sz="1300">
                <a:solidFill>
                  <a:srgbClr val="23272B"/>
                </a:solidFill>
              </a:defRPr>
            </a:pPr>
            <a:r>
              <a:t>The base backup provides the starting state; oplog replay applies captured operations so the restored state reflects the required recovery point.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Ubuntu DBA Essentials for MongoDB Backup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5486400" cy="4297680"/>
          </a:xfrm>
          <a:prstGeom prst="roundRect">
            <a:avLst/>
          </a:prstGeom>
          <a:solidFill>
            <a:srgbClr val="1D2126"/>
          </a:solidFill>
          <a:ln>
            <a:solidFill>
              <a:srgbClr val="41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tlCol="0" anchor="ctr"/>
          <a:lstStyle/>
          <a:p>
            <a:pPr algn="ctr">
              <a:defRPr sz="1300">
                <a:solidFill>
                  <a:srgbClr val="E8ECF0"/>
                </a:solidFill>
                <a:latin typeface="Consolas"/>
              </a:defRPr>
            </a:pPr>
            <a:r>
              <a:t>mongosh --version</a:t>
            </a:r>
            <a:br/>
            <a:r>
              <a:t>mongod --version</a:t>
            </a:r>
            <a:br/>
            <a:r>
              <a:t>mongodump --version</a:t>
            </a:r>
            <a:br/>
            <a:r>
              <a:t>mongorestore --version</a:t>
            </a:r>
            <a:br/>
            <a:br/>
            <a:r>
              <a:t>sudo systemctl status mongod</a:t>
            </a:r>
            <a:br/>
            <a:r>
              <a:t>sudo systemctl start mongod</a:t>
            </a:r>
            <a:br/>
            <a:r>
              <a:t>sudo systemctl stop mongod</a:t>
            </a:r>
            <a:br/>
            <a:r>
              <a:t>sudo systemctl restart mongod</a:t>
            </a:r>
            <a:br/>
            <a:r>
              <a:t>sudo systemctl enable mongod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280160"/>
            <a:ext cx="4754880" cy="822960"/>
          </a:xfrm>
          <a:prstGeom prst="roundRect">
            <a:avLst/>
          </a:prstGeom>
          <a:solidFill>
            <a:srgbClr val="E5EFFA"/>
          </a:solidFill>
          <a:ln>
            <a:solidFill>
              <a:srgbClr val="18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82A42"/>
                </a:solidFill>
              </a:defRPr>
            </a:pPr>
            <a:r>
              <a:t>MongoDB configuration</a:t>
            </a:r>
          </a:p>
          <a:p>
            <a:pPr>
              <a:spcBef>
                <a:spcPts val="500"/>
              </a:spcBef>
              <a:defRPr sz="1300">
                <a:solidFill>
                  <a:srgbClr val="23272B"/>
                </a:solidFill>
              </a:defRPr>
            </a:pPr>
            <a:r>
              <a:t>/etc/mongod.conf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331720"/>
            <a:ext cx="4754880" cy="822960"/>
          </a:xfrm>
          <a:prstGeom prst="roundRect">
            <a:avLst/>
          </a:prstGeom>
          <a:solidFill>
            <a:srgbClr val="E5EFFA"/>
          </a:solidFill>
          <a:ln>
            <a:solidFill>
              <a:srgbClr val="18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82A42"/>
                </a:solidFill>
              </a:defRPr>
            </a:pPr>
            <a:r>
              <a:t>Typical dbPath</a:t>
            </a:r>
          </a:p>
          <a:p>
            <a:pPr>
              <a:spcBef>
                <a:spcPts val="500"/>
              </a:spcBef>
              <a:defRPr sz="1300">
                <a:solidFill>
                  <a:srgbClr val="23272B"/>
                </a:solidFill>
              </a:defRPr>
            </a:pPr>
            <a:r>
              <a:t>/var/lib/mongodb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383280"/>
            <a:ext cx="4754880" cy="1417320"/>
          </a:xfrm>
          <a:prstGeom prst="roundRect">
            <a:avLst/>
          </a:prstGeom>
          <a:solidFill>
            <a:srgbClr val="FCEFDE"/>
          </a:solidFill>
          <a:ln>
            <a:solidFill>
              <a:srgbClr val="CD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CD7023"/>
                </a:solidFill>
              </a:defRPr>
            </a:pPr>
            <a:r>
              <a:t>Important distinction</a:t>
            </a:r>
          </a:p>
          <a:p>
            <a:pPr>
              <a:spcBef>
                <a:spcPts val="500"/>
              </a:spcBef>
              <a:defRPr sz="1300">
                <a:solidFill>
                  <a:srgbClr val="23272B"/>
                </a:solidFill>
              </a:defRPr>
            </a:pPr>
            <a:r>
              <a:t>mongod = server | mongosh = shell | mongodump/mongorestore = MongoDB Database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Ubuntu: Timestamped Backups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80160"/>
            <a:ext cx="10698480" cy="3291840"/>
          </a:xfrm>
          <a:prstGeom prst="roundRect">
            <a:avLst/>
          </a:prstGeom>
          <a:solidFill>
            <a:srgbClr val="1D2126"/>
          </a:solidFill>
          <a:ln>
            <a:solidFill>
              <a:srgbClr val="41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tlCol="0" anchor="ctr"/>
          <a:lstStyle/>
          <a:p>
            <a:pPr algn="ctr">
              <a:defRPr sz="1400">
                <a:solidFill>
                  <a:srgbClr val="E8ECF0"/>
                </a:solidFill>
                <a:latin typeface="Consolas"/>
              </a:defRPr>
            </a:pPr>
            <a:r>
              <a:t>mkdir -p ~/mongodb-backups</a:t>
            </a:r>
            <a:br/>
            <a:br/>
            <a:r>
              <a:t>mongodump \</a:t>
            </a:r>
            <a:br/>
            <a:r>
              <a:t>  --db=company \</a:t>
            </a:r>
            <a:br/>
            <a:r>
              <a:t>  --out="$HOME/mongodb-backups/company-$(date +%Y-%m-%d_%H-%M-%S)"</a:t>
            </a:r>
            <a:br/>
            <a:br/>
            <a:r>
              <a:t>ls -lh ~/mongodb-backups/</a:t>
            </a:r>
            <a:br/>
            <a:r>
              <a:t>du -sh ~/mongodb-backups/*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800600"/>
            <a:ext cx="10332720" cy="73096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 b="0">
                <a:solidFill>
                  <a:srgbClr val="23272B"/>
                </a:solidFill>
              </a:defRPr>
            </a:pPr>
            <a:r>
              <a:rPr dirty="0"/>
              <a:t>Timestamped directories make backup history easier to manage and audit.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 b="0">
                <a:solidFill>
                  <a:srgbClr val="23272B"/>
                </a:solidFill>
              </a:defRPr>
            </a:pPr>
            <a:r>
              <a:rPr dirty="0"/>
              <a:t>Use </a:t>
            </a:r>
            <a:r>
              <a:rPr dirty="0" err="1"/>
              <a:t>df</a:t>
            </a:r>
            <a:r>
              <a:rPr dirty="0"/>
              <a:t> -h to check free space before large backups.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Ubuntu: Permissions, Storage and Backup Hygiene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5486400" cy="4114800"/>
          </a:xfrm>
          <a:prstGeom prst="roundRect">
            <a:avLst/>
          </a:prstGeom>
          <a:solidFill>
            <a:srgbClr val="1D2126"/>
          </a:solidFill>
          <a:ln>
            <a:solidFill>
              <a:srgbClr val="41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tlCol="0" anchor="ctr"/>
          <a:lstStyle/>
          <a:p>
            <a:pPr algn="ctr">
              <a:defRPr sz="1400">
                <a:solidFill>
                  <a:srgbClr val="E8ECF0"/>
                </a:solidFill>
                <a:latin typeface="Consolas"/>
              </a:defRPr>
            </a:pPr>
            <a:r>
              <a:t>mkdir -p ~/mongodb-backups</a:t>
            </a:r>
            <a:br/>
            <a:r>
              <a:t>ls -ld ~/mongodb-backups</a:t>
            </a:r>
            <a:br/>
            <a:r>
              <a:t>ls -l</a:t>
            </a:r>
            <a:br/>
            <a:br/>
            <a:r>
              <a:t>df -h</a:t>
            </a:r>
            <a:br/>
            <a:r>
              <a:t>du -sh ~/mongodb-backups/*</a:t>
            </a:r>
            <a:br/>
            <a:br/>
            <a:r>
              <a:t># Useful administration commands</a:t>
            </a:r>
            <a:br/>
            <a:r>
              <a:t>chown</a:t>
            </a:r>
            <a:br/>
            <a:r>
              <a:t>chmod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417320"/>
            <a:ext cx="4663440" cy="22698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 b="0">
                <a:solidFill>
                  <a:srgbClr val="23272B"/>
                </a:solidFill>
              </a:defRPr>
            </a:pPr>
            <a:r>
              <a:rPr dirty="0"/>
              <a:t>Avoid creating backups as root unless there is a deliberate reason.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 b="0">
                <a:solidFill>
                  <a:srgbClr val="23272B"/>
                </a:solidFill>
              </a:defRPr>
            </a:pPr>
            <a:r>
              <a:rPr dirty="0"/>
              <a:t>A backup directory must have appropriate ownership and permissions.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 b="0">
                <a:solidFill>
                  <a:srgbClr val="23272B"/>
                </a:solidFill>
              </a:defRPr>
            </a:pPr>
            <a:r>
              <a:rPr dirty="0"/>
              <a:t>Monitor free disk space and backup growth.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 b="0">
                <a:solidFill>
                  <a:srgbClr val="23272B"/>
                </a:solidFill>
              </a:defRPr>
            </a:pPr>
            <a:r>
              <a:rPr dirty="0"/>
              <a:t>Production backups should be stored separately from the database host.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CEC860-0BEC-7905-71FC-ECE910BB0609}"/>
              </a:ext>
            </a:extLst>
          </p:cNvPr>
          <p:cNvSpPr txBox="1"/>
          <p:nvPr/>
        </p:nvSpPr>
        <p:spPr>
          <a:xfrm>
            <a:off x="435196" y="185814"/>
            <a:ext cx="11002139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Logical backup</a:t>
            </a:r>
          </a:p>
          <a:p>
            <a:pPr>
              <a:buNone/>
            </a:pPr>
            <a:endParaRPr lang="en-IN" sz="3200" b="1" dirty="0"/>
          </a:p>
          <a:p>
            <a:pPr>
              <a:buNone/>
            </a:pPr>
            <a:endParaRPr lang="en-IN" sz="3200" b="1" dirty="0"/>
          </a:p>
          <a:p>
            <a:pPr rtl="0">
              <a:buNone/>
            </a:pPr>
            <a:r>
              <a:rPr lang="en-IN" dirty="0">
                <a:solidFill>
                  <a:srgbClr val="C00000"/>
                </a:solidFill>
                <a:latin typeface="+mn-lt"/>
              </a:rPr>
              <a:t>MongoDB</a:t>
            </a:r>
          </a:p>
          <a:p>
            <a:pPr rtl="0">
              <a:buNone/>
            </a:pPr>
            <a:r>
              <a:rPr lang="en-IN" dirty="0">
                <a:solidFill>
                  <a:srgbClr val="C00000"/>
                </a:solidFill>
                <a:latin typeface="+mn-lt"/>
              </a:rPr>
              <a:t>   ↓</a:t>
            </a:r>
          </a:p>
          <a:p>
            <a:pPr rtl="0">
              <a:buNone/>
            </a:pPr>
            <a:r>
              <a:rPr lang="en-IN" dirty="0" err="1">
                <a:solidFill>
                  <a:srgbClr val="C00000"/>
                </a:solidFill>
                <a:latin typeface="+mn-lt"/>
              </a:rPr>
              <a:t>mongodump</a:t>
            </a:r>
            <a:endParaRPr lang="en-IN" dirty="0">
              <a:solidFill>
                <a:srgbClr val="C00000"/>
              </a:solidFill>
              <a:latin typeface="+mn-lt"/>
            </a:endParaRPr>
          </a:p>
          <a:p>
            <a:pPr rtl="0">
              <a:buNone/>
            </a:pPr>
            <a:r>
              <a:rPr lang="en-IN" dirty="0">
                <a:solidFill>
                  <a:srgbClr val="C00000"/>
                </a:solidFill>
                <a:latin typeface="+mn-lt"/>
              </a:rPr>
              <a:t>   ↓</a:t>
            </a:r>
          </a:p>
          <a:p>
            <a:pPr rtl="0">
              <a:buNone/>
            </a:pPr>
            <a:r>
              <a:rPr lang="en-IN" dirty="0">
                <a:solidFill>
                  <a:srgbClr val="C00000"/>
                </a:solidFill>
                <a:latin typeface="+mn-lt"/>
              </a:rPr>
              <a:t>BSON</a:t>
            </a:r>
          </a:p>
          <a:p>
            <a:pPr rtl="0">
              <a:buNone/>
            </a:pPr>
            <a:endParaRPr lang="en-IN" dirty="0">
              <a:solidFill>
                <a:srgbClr val="C00000"/>
              </a:solidFill>
            </a:endParaRPr>
          </a:p>
          <a:p>
            <a:pPr rtl="0">
              <a:buNone/>
            </a:pPr>
            <a:endParaRPr lang="en-IN" dirty="0">
              <a:solidFill>
                <a:srgbClr val="C00000"/>
              </a:solidFill>
              <a:latin typeface="+mn-lt"/>
            </a:endParaRPr>
          </a:p>
          <a:p>
            <a:pPr>
              <a:buNone/>
            </a:pPr>
            <a:r>
              <a:rPr lang="en-IN" dirty="0"/>
              <a:t>Advantages: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Selective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Easy to migrate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Can restore individual collections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Useful for smaller datasets 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Disadvantages: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Can be slower for large databases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Restore can take considerable time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Not usually the ideal strategy for very large production deployments </a:t>
            </a:r>
          </a:p>
        </p:txBody>
      </p:sp>
    </p:spTree>
    <p:extLst>
      <p:ext uri="{BB962C8B-B14F-4D97-AF65-F5344CB8AC3E}">
        <p14:creationId xmlns:p14="http://schemas.microsoft.com/office/powerpoint/2010/main" val="2552192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Critical Warning: Do Not Treat /var/lib/mongodb as a Simple Backup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846320" cy="1097280"/>
          </a:xfrm>
          <a:prstGeom prst="roundRect">
            <a:avLst/>
          </a:prstGeom>
          <a:solidFill>
            <a:srgbClr val="FAE6E6"/>
          </a:solidFill>
          <a:ln>
            <a:solidFill>
              <a:srgbClr val="B2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82A42"/>
                </a:solidFill>
              </a:defRPr>
            </a:pPr>
            <a:r>
              <a:t>❌ cp -r /var/lib/mongodb /backup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371600"/>
            <a:ext cx="4846320" cy="1097280"/>
          </a:xfrm>
          <a:prstGeom prst="roundRect">
            <a:avLst/>
          </a:prstGeom>
          <a:solidFill>
            <a:srgbClr val="E6F5EC"/>
          </a:solidFill>
          <a:ln>
            <a:solidFill>
              <a:srgbClr val="2E7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82A42"/>
                </a:solidFill>
              </a:defRPr>
            </a:pPr>
            <a:r>
              <a:t>✅ Consistent filesystem / block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15465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23272B"/>
                </a:solidFill>
              </a:defRPr>
            </a:pPr>
            <a:r>
              <a:rPr dirty="0"/>
              <a:t>MongoDB data files can change while a live copy is being made.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23272B"/>
                </a:solidFill>
              </a:defRPr>
            </a:pPr>
            <a:r>
              <a:rPr dirty="0"/>
              <a:t>A consistent snapshot mechanism is required for physical backup.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23272B"/>
                </a:solidFill>
              </a:defRPr>
            </a:pPr>
            <a:r>
              <a:rPr dirty="0"/>
              <a:t>Examples: LVM snapshots, storage-array snapshots, cloud volume snapshots.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23272B"/>
                </a:solidFill>
              </a:defRPr>
            </a:pPr>
            <a:r>
              <a:rPr dirty="0"/>
              <a:t>The underlying storage architecture must be designed and tested for consistency and recovery.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rPr dirty="0"/>
              <a:t>3. Filesystem / Block-Level Snapshots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508760"/>
            <a:ext cx="233172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MongoDB</a:t>
            </a:r>
          </a:p>
        </p:txBody>
      </p:sp>
      <p:sp>
        <p:nvSpPr>
          <p:cNvPr id="4" name="Chevron 3"/>
          <p:cNvSpPr/>
          <p:nvPr/>
        </p:nvSpPr>
        <p:spPr>
          <a:xfrm>
            <a:off x="2999232" y="176479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383279" y="1508760"/>
            <a:ext cx="233172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/var/lib/mongodb</a:t>
            </a:r>
          </a:p>
        </p:txBody>
      </p:sp>
      <p:sp>
        <p:nvSpPr>
          <p:cNvPr id="6" name="Chevron 5"/>
          <p:cNvSpPr/>
          <p:nvPr/>
        </p:nvSpPr>
        <p:spPr>
          <a:xfrm>
            <a:off x="5788152" y="176479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1508760"/>
            <a:ext cx="233172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Storage volume</a:t>
            </a:r>
          </a:p>
        </p:txBody>
      </p:sp>
      <p:sp>
        <p:nvSpPr>
          <p:cNvPr id="8" name="Chevron 7"/>
          <p:cNvSpPr/>
          <p:nvPr/>
        </p:nvSpPr>
        <p:spPr>
          <a:xfrm>
            <a:off x="8577072" y="176479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61120" y="1508760"/>
            <a:ext cx="233172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Snapshot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10515600" cy="182357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23272B"/>
                </a:solidFill>
              </a:defRPr>
            </a:pPr>
            <a:r>
              <a:rPr dirty="0"/>
              <a:t>Snapshots can complete quickly because copy-on-write storage mechanisms avoid immediately copying every block.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23272B"/>
                </a:solidFill>
              </a:defRPr>
            </a:pPr>
            <a:r>
              <a:rPr lang="en-IN" dirty="0"/>
              <a:t>A</a:t>
            </a:r>
            <a:r>
              <a:rPr dirty="0" err="1"/>
              <a:t>ttractive</a:t>
            </a:r>
            <a:r>
              <a:rPr dirty="0"/>
              <a:t> for large databases where logical dump/restore may take too long.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23272B"/>
                </a:solidFill>
              </a:defRPr>
            </a:pPr>
            <a:r>
              <a:rPr lang="en-IN" dirty="0"/>
              <a:t>R</a:t>
            </a:r>
            <a:r>
              <a:rPr dirty="0" err="1"/>
              <a:t>equire</a:t>
            </a:r>
            <a:r>
              <a:rPr dirty="0"/>
              <a:t> storage-level configuration and operational discipline.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23272B"/>
                </a:solidFill>
              </a:defRPr>
            </a:pPr>
            <a:r>
              <a:rPr dirty="0"/>
              <a:t>Recovery speed depends on the storage platform and architecture.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4. Replica Set + Oplog Based Recovery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C1971C-5716-6BB7-A1E8-ACBC2B6AFE2A}"/>
              </a:ext>
            </a:extLst>
          </p:cNvPr>
          <p:cNvSpPr txBox="1"/>
          <p:nvPr/>
        </p:nvSpPr>
        <p:spPr>
          <a:xfrm>
            <a:off x="641792" y="1824612"/>
            <a:ext cx="609518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/>
              <a:t>DBA must consider: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replication lag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consistency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 err="1"/>
              <a:t>oplog</a:t>
            </a:r>
            <a:r>
              <a:rPr lang="en-IN" sz="1800" dirty="0"/>
              <a:t> availability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workload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backup window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recovery requirements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storage snapshots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point-in-time recovery requirements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EB4FD5-17DA-63EB-2BAA-2D5B9CF09098}"/>
              </a:ext>
            </a:extLst>
          </p:cNvPr>
          <p:cNvSpPr txBox="1"/>
          <p:nvPr/>
        </p:nvSpPr>
        <p:spPr>
          <a:xfrm>
            <a:off x="342289" y="0"/>
            <a:ext cx="10547384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Backup vs Point-in-Time Recovery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Imagine: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Monday 10:00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 │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 │ Full backup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 ▼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Monday 10:00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 │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 ├── 10:30 Order A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 ├── 11:15 Order B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 ├── 12:20 Order C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 └── 13:05 Accidental deletion</a:t>
            </a:r>
          </a:p>
          <a:p>
            <a:pPr>
              <a:buNone/>
            </a:pPr>
            <a:r>
              <a:rPr lang="en-IN" dirty="0"/>
              <a:t>If your only backup is the 10:00 backup: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Restore → 10:00 state</a:t>
            </a:r>
          </a:p>
          <a:p>
            <a:pPr>
              <a:buNone/>
            </a:pPr>
            <a:r>
              <a:rPr lang="en-IN" dirty="0"/>
              <a:t>You lose changes after 10:00 unless you have a recovery mechanism that captures them.</a:t>
            </a:r>
          </a:p>
          <a:p>
            <a:pPr>
              <a:buNone/>
            </a:pPr>
            <a:r>
              <a:rPr lang="en-IN" dirty="0"/>
              <a:t>With appropriate </a:t>
            </a:r>
            <a:r>
              <a:rPr lang="en-IN" dirty="0" err="1"/>
              <a:t>oplog</a:t>
            </a:r>
            <a:r>
              <a:rPr lang="en-IN" dirty="0"/>
              <a:t>-based recovery: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10:00 backup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+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10:00 → 13:04 </a:t>
            </a:r>
            <a:r>
              <a:rPr lang="en-IN" dirty="0" err="1">
                <a:latin typeface="+mn-lt"/>
              </a:rPr>
              <a:t>oplog</a:t>
            </a:r>
            <a:endParaRPr lang="en-IN" dirty="0">
              <a:latin typeface="+mn-lt"/>
            </a:endParaRPr>
          </a:p>
          <a:p>
            <a:pPr rtl="0">
              <a:buNone/>
            </a:pPr>
            <a:r>
              <a:rPr lang="en-IN" dirty="0">
                <a:latin typeface="+mn-lt"/>
              </a:rPr>
              <a:t>  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Restore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State at approximately 13:04</a:t>
            </a:r>
          </a:p>
        </p:txBody>
      </p:sp>
    </p:spTree>
    <p:extLst>
      <p:ext uri="{BB962C8B-B14F-4D97-AF65-F5344CB8AC3E}">
        <p14:creationId xmlns:p14="http://schemas.microsoft.com/office/powerpoint/2010/main" val="21089936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5. Managed / Enterprise Backup Options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34440"/>
          <a:ext cx="111556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Option</a:t>
                      </a:r>
                    </a:p>
                  </a:txBody>
                  <a:tcPr marL="64008" marR="64008">
                    <a:solidFill>
                      <a:srgbClr val="18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Where it fits</a:t>
                      </a:r>
                    </a:p>
                  </a:txBody>
                  <a:tcPr marL="64008" marR="64008">
                    <a:solidFill>
                      <a:srgbClr val="18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Key idea</a:t>
                      </a:r>
                    </a:p>
                  </a:txBody>
                  <a:tcPr marL="64008" marR="64008">
                    <a:solidFill>
                      <a:srgbClr val="18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MongoDB Ops Manager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Self-managed enterprise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Centralized backup, snapshots and recovery workflows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MongoDB Atlas Cloud Backup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MongoDB Atlas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Managed cloud backup and restore capabilities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Cloud volume snapshot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Cloud-hosted self-managed MongoDB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Snapshot the underlying block storage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Filesystem/storage snapshot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On-prem / self-managed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rPr dirty="0"/>
                        <a:t>Fast physical-style recovery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805490"/>
            <a:ext cx="105156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3272B"/>
                </a:solidFill>
              </a:defRPr>
            </a:pPr>
            <a:r>
              <a:rPr dirty="0"/>
              <a:t>The choice depends on deployment model, RPO/RTO, scale, compliance, operational skills and cost.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Backup from a Replica Set Secondary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417320"/>
            <a:ext cx="237744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PRIMARY</a:t>
            </a:r>
          </a:p>
        </p:txBody>
      </p:sp>
      <p:sp>
        <p:nvSpPr>
          <p:cNvPr id="4" name="Chevron 3"/>
          <p:cNvSpPr/>
          <p:nvPr/>
        </p:nvSpPr>
        <p:spPr>
          <a:xfrm>
            <a:off x="3227832" y="167335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749039" y="1417320"/>
            <a:ext cx="237744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SECONDARY</a:t>
            </a:r>
          </a:p>
        </p:txBody>
      </p:sp>
      <p:sp>
        <p:nvSpPr>
          <p:cNvPr id="6" name="Chevron 5"/>
          <p:cNvSpPr/>
          <p:nvPr/>
        </p:nvSpPr>
        <p:spPr>
          <a:xfrm>
            <a:off x="6199631" y="167335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20840" y="1417320"/>
            <a:ext cx="237744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Backup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17466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 b="0">
                <a:solidFill>
                  <a:srgbClr val="23272B"/>
                </a:solidFill>
              </a:defRPr>
            </a:pPr>
            <a:r>
              <a:rPr dirty="0"/>
              <a:t>A secondary can sometimes be selected as the backup source to reduce workload on the primary.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 b="0">
                <a:solidFill>
                  <a:srgbClr val="23272B"/>
                </a:solidFill>
              </a:defRPr>
            </a:pPr>
            <a:r>
              <a:rPr dirty="0"/>
              <a:t>Do not </a:t>
            </a:r>
            <a:r>
              <a:rPr lang="en-IN" dirty="0"/>
              <a:t>keep</a:t>
            </a:r>
            <a:r>
              <a:rPr dirty="0"/>
              <a:t> 'always backup from secondary' as a rule.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 b="0">
                <a:solidFill>
                  <a:srgbClr val="23272B"/>
                </a:solidFill>
              </a:defRPr>
            </a:pPr>
            <a:r>
              <a:rPr dirty="0"/>
              <a:t>Consider replication lag, workload, consistency, </a:t>
            </a:r>
            <a:r>
              <a:rPr dirty="0" err="1"/>
              <a:t>oplog</a:t>
            </a:r>
            <a:r>
              <a:rPr dirty="0"/>
              <a:t> availability, network and recovery requirements.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 b="0">
                <a:solidFill>
                  <a:srgbClr val="23272B"/>
                </a:solidFill>
              </a:defRPr>
            </a:pPr>
            <a:r>
              <a:rPr dirty="0"/>
              <a:t>For </a:t>
            </a:r>
            <a:r>
              <a:rPr dirty="0" err="1"/>
              <a:t>mongodump</a:t>
            </a:r>
            <a:r>
              <a:rPr dirty="0"/>
              <a:t>, consistent replica-set backup requires capturing the </a:t>
            </a:r>
            <a:r>
              <a:rPr dirty="0" err="1"/>
              <a:t>oplog</a:t>
            </a:r>
            <a:r>
              <a:rPr dirty="0"/>
              <a:t> or controlling writes during the backup window.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Replication Is NOT the Same as Backup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17320"/>
            <a:ext cx="228600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Primary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60" y="1417320"/>
            <a:ext cx="228600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Secondary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1417320"/>
            <a:ext cx="228600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Secondary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017520"/>
            <a:ext cx="4754880" cy="1234440"/>
          </a:xfrm>
          <a:prstGeom prst="roundRect">
            <a:avLst/>
          </a:prstGeom>
          <a:solidFill>
            <a:srgbClr val="FAE6E6"/>
          </a:solidFill>
          <a:ln>
            <a:solidFill>
              <a:srgbClr val="B2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B23939"/>
                </a:solidFill>
              </a:defRPr>
            </a:pPr>
            <a:r>
              <a:t>Accidental delete</a:t>
            </a:r>
          </a:p>
          <a:p>
            <a:pPr>
              <a:spcBef>
                <a:spcPts val="500"/>
              </a:spcBef>
              <a:defRPr sz="1300">
                <a:solidFill>
                  <a:srgbClr val="23272B"/>
                </a:solidFill>
              </a:defRPr>
            </a:pPr>
            <a:r>
              <a:t>If the primary deletes 1 million documents and the operation replicates, the secondaries can also receive the deletion.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017520"/>
            <a:ext cx="4754880" cy="1234440"/>
          </a:xfrm>
          <a:prstGeom prst="roundRect">
            <a:avLst/>
          </a:prstGeom>
          <a:solidFill>
            <a:srgbClr val="E6F5EC"/>
          </a:solidFill>
          <a:ln>
            <a:solidFill>
              <a:srgbClr val="2E7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E7D54"/>
                </a:solidFill>
              </a:defRPr>
            </a:pPr>
            <a:r>
              <a:t>Backup protects history</a:t>
            </a:r>
          </a:p>
          <a:p>
            <a:pPr>
              <a:spcBef>
                <a:spcPts val="500"/>
              </a:spcBef>
              <a:defRPr sz="1300">
                <a:solidFill>
                  <a:srgbClr val="23272B"/>
                </a:solidFill>
              </a:defRPr>
            </a:pPr>
            <a:r>
              <a:t>An independent backup / PITR mechanism gives you a recovery path to an earlier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4892040"/>
            <a:ext cx="5212080" cy="777240"/>
          </a:xfrm>
          <a:prstGeom prst="roundRect">
            <a:avLst/>
          </a:prstGeom>
          <a:solidFill>
            <a:srgbClr val="FCEFDE"/>
          </a:solidFill>
          <a:ln>
            <a:solidFill>
              <a:srgbClr val="CD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CD7023"/>
                </a:solidFill>
              </a:defRPr>
            </a:pPr>
            <a:r>
              <a:t>Rule</a:t>
            </a:r>
          </a:p>
          <a:p>
            <a:pPr>
              <a:spcBef>
                <a:spcPts val="500"/>
              </a:spcBef>
              <a:defRPr sz="1300">
                <a:solidFill>
                  <a:srgbClr val="23272B"/>
                </a:solidFill>
              </a:defRPr>
            </a:pPr>
            <a:r>
              <a:t>Replication ≠ Backup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RPO and RTO: The Requirements That Drive Recovery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08760"/>
            <a:ext cx="4389120" cy="13716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100" b="1">
                <a:solidFill>
                  <a:srgbClr val="182A42"/>
                </a:solidFill>
              </a:defRPr>
            </a:pPr>
            <a:r>
              <a:t>RPO</a:t>
            </a:r>
            <a:br/>
            <a:r>
              <a:t>How much data can we lose?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0" y="1508760"/>
            <a:ext cx="4389120" cy="1371600"/>
          </a:xfrm>
          <a:prstGeom prst="roundRect">
            <a:avLst/>
          </a:prstGeom>
          <a:solidFill>
            <a:srgbClr val="E6F5EC"/>
          </a:solidFill>
          <a:ln>
            <a:solidFill>
              <a:srgbClr val="2E7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100" b="1">
                <a:solidFill>
                  <a:srgbClr val="182A42"/>
                </a:solidFill>
              </a:defRPr>
            </a:pPr>
            <a:r>
              <a:t>RTO</a:t>
            </a:r>
            <a:br/>
            <a:r>
              <a:t>How much time can we take?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3272B"/>
                </a:solidFill>
              </a:defRPr>
            </a:pPr>
            <a:r>
              <a:t>RPO = Recovery Point Objective — maximum acceptable data loss measured in time.</a:t>
            </a:r>
          </a:p>
          <a:p>
            <a:pPr>
              <a:spcAft>
                <a:spcPts val="900"/>
              </a:spcAft>
              <a:defRPr sz="2000" b="0">
                <a:solidFill>
                  <a:srgbClr val="23272B"/>
                </a:solidFill>
              </a:defRPr>
            </a:pPr>
            <a:r>
              <a:t>RTO = Recovery Time Objective — maximum acceptable time to restore service after a disruption.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RPO — Recovery Point Objective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2011680" cy="109728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182A42"/>
                </a:solidFill>
              </a:defRPr>
            </a:pPr>
            <a:r>
              <a:t>10:00</a:t>
            </a:r>
            <a:br/>
            <a:r>
              <a:t>Backup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1920240"/>
            <a:ext cx="2011680" cy="109728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182A42"/>
                </a:solidFill>
              </a:defRPr>
            </a:pPr>
            <a:r>
              <a:t>12:00</a:t>
            </a:r>
            <a:br/>
            <a:r>
              <a:t>Latest backup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1920240"/>
            <a:ext cx="2011680" cy="1097280"/>
          </a:xfrm>
          <a:prstGeom prst="roundRect">
            <a:avLst/>
          </a:prstGeom>
          <a:solidFill>
            <a:srgbClr val="FAE6E6"/>
          </a:solidFill>
          <a:ln>
            <a:solidFill>
              <a:srgbClr val="B2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182A42"/>
                </a:solidFill>
              </a:defRPr>
            </a:pPr>
            <a:r>
              <a:t>12:45</a:t>
            </a:r>
            <a:br/>
            <a:r>
              <a:t>Failure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11680" y="3474720"/>
            <a:ext cx="8046720" cy="0"/>
          </a:xfrm>
          <a:prstGeom prst="line">
            <a:avLst/>
          </a:prstGeom>
          <a:ln w="25400">
            <a:solidFill>
              <a:srgbClr val="5F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14400" y="3977639"/>
            <a:ext cx="10241280" cy="1234440"/>
          </a:xfrm>
          <a:prstGeom prst="roundRect">
            <a:avLst/>
          </a:prstGeom>
          <a:solidFill>
            <a:srgbClr val="FAE6E6"/>
          </a:solidFill>
          <a:ln>
            <a:solidFill>
              <a:srgbClr val="B2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B23939"/>
                </a:solidFill>
              </a:defRPr>
            </a:pPr>
            <a:r>
              <a:t>If the latest usable backup is 12:00 and failure occurs at 12:45</a:t>
            </a:r>
          </a:p>
          <a:p>
            <a:pPr>
              <a:spcBef>
                <a:spcPts val="500"/>
              </a:spcBef>
              <a:defRPr sz="1300">
                <a:solidFill>
                  <a:srgbClr val="23272B"/>
                </a:solidFill>
              </a:defRPr>
            </a:pPr>
            <a:r>
              <a:t>Potential data loss = 45 minutes. If the business requires RPO = 15 minutes, this backup schedule is insufficient.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RTO — Recovery Time Objective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828800"/>
            <a:ext cx="182880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Failure</a:t>
            </a:r>
          </a:p>
        </p:txBody>
      </p:sp>
      <p:sp>
        <p:nvSpPr>
          <p:cNvPr id="4" name="Chevron 3"/>
          <p:cNvSpPr/>
          <p:nvPr/>
        </p:nvSpPr>
        <p:spPr>
          <a:xfrm>
            <a:off x="2404872" y="208483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43200" y="1828800"/>
            <a:ext cx="182880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Detect</a:t>
            </a:r>
          </a:p>
        </p:txBody>
      </p:sp>
      <p:sp>
        <p:nvSpPr>
          <p:cNvPr id="6" name="Chevron 5"/>
          <p:cNvSpPr/>
          <p:nvPr/>
        </p:nvSpPr>
        <p:spPr>
          <a:xfrm>
            <a:off x="4645152" y="208483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983480" y="1828800"/>
            <a:ext cx="182880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Recover</a:t>
            </a:r>
          </a:p>
        </p:txBody>
      </p:sp>
      <p:sp>
        <p:nvSpPr>
          <p:cNvPr id="8" name="Chevron 7"/>
          <p:cNvSpPr/>
          <p:nvPr/>
        </p:nvSpPr>
        <p:spPr>
          <a:xfrm>
            <a:off x="6885432" y="208483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223760" y="1828800"/>
            <a:ext cx="182880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Validate</a:t>
            </a:r>
          </a:p>
        </p:txBody>
      </p:sp>
      <p:sp>
        <p:nvSpPr>
          <p:cNvPr id="10" name="Chevron 9"/>
          <p:cNvSpPr/>
          <p:nvPr/>
        </p:nvSpPr>
        <p:spPr>
          <a:xfrm>
            <a:off x="9125712" y="208483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464040" y="1828800"/>
            <a:ext cx="182880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Service available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607040" cy="1234440"/>
          </a:xfrm>
          <a:prstGeom prst="roundRect">
            <a:avLst/>
          </a:prstGeom>
          <a:solidFill>
            <a:srgbClr val="FCEFDE"/>
          </a:solidFill>
          <a:ln>
            <a:solidFill>
              <a:srgbClr val="CD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CD7023"/>
                </a:solidFill>
              </a:defRPr>
            </a:pPr>
            <a:r>
              <a:t>RTO includes the entire recovery process</a:t>
            </a:r>
          </a:p>
          <a:p>
            <a:pPr>
              <a:spcBef>
                <a:spcPts val="500"/>
              </a:spcBef>
              <a:defRPr sz="1300">
                <a:solidFill>
                  <a:srgbClr val="23272B"/>
                </a:solidFill>
              </a:defRPr>
            </a:pPr>
            <a:r>
              <a:t>Detection + decision + infrastructure + restore + oplog replay + validation + application readiness. It is not just the duration of mongorestore.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RTO Example — Measure the Whole Recovery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234440"/>
          <a:ext cx="49377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Recovery activity</a:t>
                      </a:r>
                    </a:p>
                  </a:txBody>
                  <a:tcPr marL="64008" marR="64008">
                    <a:solidFill>
                      <a:srgbClr val="18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 marL="64008" marR="64008">
                    <a:solidFill>
                      <a:srgbClr val="18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Detect failure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2 min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Identify recovery strategy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3 min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Provision replacement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10 min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Restore backup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20 min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Replay oplog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5 min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Application validation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5 min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45 min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675120" y="1417320"/>
            <a:ext cx="420624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A67AA"/>
                </a:solidFill>
              </a:defRPr>
            </a:pPr>
            <a:r>
              <a:t>Business target</a:t>
            </a:r>
          </a:p>
          <a:p>
            <a:pPr>
              <a:spcBef>
                <a:spcPts val="500"/>
              </a:spcBef>
              <a:defRPr sz="1300">
                <a:solidFill>
                  <a:srgbClr val="23272B"/>
                </a:solidFill>
              </a:defRPr>
            </a:pPr>
            <a:r>
              <a:t>RTO = 30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2651760"/>
            <a:ext cx="4206240" cy="914400"/>
          </a:xfrm>
          <a:prstGeom prst="roundRect">
            <a:avLst/>
          </a:prstGeom>
          <a:solidFill>
            <a:srgbClr val="FAE6E6"/>
          </a:solidFill>
          <a:ln>
            <a:solidFill>
              <a:srgbClr val="B2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B23939"/>
                </a:solidFill>
              </a:defRPr>
            </a:pPr>
            <a:r>
              <a:t>Measured result</a:t>
            </a:r>
          </a:p>
          <a:p>
            <a:pPr>
              <a:spcBef>
                <a:spcPts val="500"/>
              </a:spcBef>
              <a:defRPr sz="1300">
                <a:solidFill>
                  <a:srgbClr val="23272B"/>
                </a:solidFill>
              </a:defRPr>
            </a:pPr>
            <a:r>
              <a:t>45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931920"/>
            <a:ext cx="4754880" cy="1234440"/>
          </a:xfrm>
          <a:prstGeom prst="roundRect">
            <a:avLst/>
          </a:prstGeom>
          <a:solidFill>
            <a:srgbClr val="FCEFDE"/>
          </a:solidFill>
          <a:ln>
            <a:solidFill>
              <a:srgbClr val="CD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CD7023"/>
                </a:solidFill>
              </a:defRPr>
            </a:pPr>
            <a:r>
              <a:t>Conclusion</a:t>
            </a:r>
          </a:p>
          <a:p>
            <a:pPr>
              <a:spcBef>
                <a:spcPts val="500"/>
              </a:spcBef>
              <a:defRPr sz="1300">
                <a:solidFill>
                  <a:srgbClr val="23272B"/>
                </a:solidFill>
              </a:defRPr>
            </a:pPr>
            <a:r>
              <a:t>The recovery architecture does NOT meet the stated RTO.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RPO/RTO Should Drive the Backup Architecture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3444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395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Requirement</a:t>
                      </a:r>
                    </a:p>
                  </a:txBody>
                  <a:tcPr marL="64008" marR="64008">
                    <a:solidFill>
                      <a:srgbClr val="18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Possible strategy</a:t>
                      </a:r>
                    </a:p>
                  </a:txBody>
                  <a:tcPr marL="64008" marR="64008">
                    <a:solidFill>
                      <a:srgbClr val="18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72B"/>
                          </a:solidFill>
                        </a:defRPr>
                      </a:pPr>
                      <a:r>
                        <a:t>RPO 24h / RTO 24h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72B"/>
                          </a:solidFill>
                        </a:defRPr>
                      </a:pPr>
                      <a:r>
                        <a:t>Daily logical backup + remote backup storage + tested restore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72B"/>
                          </a:solidFill>
                        </a:defRPr>
                      </a:pPr>
                      <a:r>
                        <a:t>RPO 6h / RTO 8h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72B"/>
                          </a:solidFill>
                        </a:defRPr>
                      </a:pPr>
                      <a:r>
                        <a:t>Multiple backups per day + recovery procedure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72B"/>
                          </a:solidFill>
                        </a:defRPr>
                      </a:pPr>
                      <a:r>
                        <a:t>RPO 1h / RTO 2h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72B"/>
                          </a:solidFill>
                        </a:defRPr>
                      </a:pPr>
                      <a:r>
                        <a:t>Frequent backup + replica/oplog strategy + restore automation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72B"/>
                          </a:solidFill>
                        </a:defRPr>
                      </a:pPr>
                      <a:r>
                        <a:t>RPO 15m / RTO 1h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72B"/>
                          </a:solidFill>
                        </a:defRPr>
                      </a:pPr>
                      <a:r>
                        <a:t>Frequent snapshots + PITR capability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72B"/>
                          </a:solidFill>
                        </a:defRPr>
                      </a:pPr>
                      <a:r>
                        <a:t>RPO few minutes / RTO few minutes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72B"/>
                          </a:solidFill>
                        </a:defRPr>
                      </a:pPr>
                      <a:r>
                        <a:t>HA + rapid failover + PITR/backup + automation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9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72B"/>
                          </a:solidFill>
                        </a:defRPr>
                      </a:pPr>
                      <a:r>
                        <a:t>Near-zero RPO/RTO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72B"/>
                          </a:solidFill>
                        </a:defRPr>
                      </a:pPr>
                      <a:r>
                        <a:t>Specialized architecture justified by business requirements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5577840"/>
            <a:ext cx="10515600" cy="594360"/>
          </a:xfrm>
          <a:prstGeom prst="roundRect">
            <a:avLst/>
          </a:prstGeom>
          <a:solidFill>
            <a:srgbClr val="FCEFDE"/>
          </a:solidFill>
          <a:ln>
            <a:solidFill>
              <a:srgbClr val="CD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CD7023"/>
                </a:solidFill>
              </a:defRPr>
            </a:pPr>
            <a:r>
              <a:t>Important</a:t>
            </a:r>
          </a:p>
          <a:p>
            <a:pPr>
              <a:spcBef>
                <a:spcPts val="500"/>
              </a:spcBef>
              <a:defRPr sz="1300">
                <a:solidFill>
                  <a:srgbClr val="23272B"/>
                </a:solidFill>
              </a:defRPr>
            </a:pPr>
            <a:r>
              <a:t>These are illustrative patterns, not universal prescriptions. Actual architecture depends on workload, deployment and business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RPO Dependency: Oplog Retention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83464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Full backup</a:t>
            </a:r>
            <a:br/>
            <a:r>
              <a:t>12:00</a:t>
            </a:r>
          </a:p>
        </p:txBody>
      </p:sp>
      <p:sp>
        <p:nvSpPr>
          <p:cNvPr id="4" name="Chevron 3"/>
          <p:cNvSpPr/>
          <p:nvPr/>
        </p:nvSpPr>
        <p:spPr>
          <a:xfrm>
            <a:off x="3639312" y="181051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60520" y="1554480"/>
            <a:ext cx="283464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Oplog</a:t>
            </a:r>
            <a:br/>
            <a:r>
              <a:t>12:00–14:00</a:t>
            </a:r>
          </a:p>
        </p:txBody>
      </p:sp>
      <p:sp>
        <p:nvSpPr>
          <p:cNvPr id="6" name="Chevron 5"/>
          <p:cNvSpPr/>
          <p:nvPr/>
        </p:nvSpPr>
        <p:spPr>
          <a:xfrm>
            <a:off x="7068312" y="181051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589520" y="1554480"/>
            <a:ext cx="283464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Need recovery</a:t>
            </a:r>
            <a:br/>
            <a:r>
              <a:t>18:00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515600" cy="1234440"/>
          </a:xfrm>
          <a:prstGeom prst="roundRect">
            <a:avLst/>
          </a:prstGeom>
          <a:solidFill>
            <a:srgbClr val="FAE6E6"/>
          </a:solidFill>
          <a:ln>
            <a:solidFill>
              <a:srgbClr val="B2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B23939"/>
                </a:solidFill>
              </a:defRPr>
            </a:pPr>
            <a:r>
              <a:t>Problem</a:t>
            </a:r>
          </a:p>
          <a:p>
            <a:pPr>
              <a:spcBef>
                <a:spcPts val="500"/>
              </a:spcBef>
              <a:defRPr sz="1300">
                <a:solidFill>
                  <a:srgbClr val="23272B"/>
                </a:solidFill>
              </a:defRPr>
            </a:pPr>
            <a:r>
              <a:t>If oplog history is available only from 12:00 to 14:00, you cannot use that history to reconstruct the database to 18:00.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1033272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3272B"/>
                </a:solidFill>
              </a:defRPr>
            </a:pPr>
            <a:r>
              <a:t>Backup frequency + oplog retention determine how far back and how precisely you can recover.</a:t>
            </a:r>
          </a:p>
          <a:p>
            <a:pPr>
              <a:spcAft>
                <a:spcPts val="900"/>
              </a:spcAft>
              <a:defRPr sz="1600" b="0">
                <a:solidFill>
                  <a:srgbClr val="23272B"/>
                </a:solidFill>
              </a:defRPr>
            </a:pPr>
            <a:r>
              <a:t>For PITR, ensure the required oplog/change history remains available for the recovery window.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RTO Dependency: Database Size and Restore Speed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017520" cy="1097280"/>
          </a:xfrm>
          <a:prstGeom prst="roundRect">
            <a:avLst/>
          </a:prstGeom>
          <a:solidFill>
            <a:srgbClr val="E6F5EC"/>
          </a:solidFill>
          <a:ln>
            <a:solidFill>
              <a:srgbClr val="2E7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20 GB database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371600"/>
            <a:ext cx="3017520" cy="1097280"/>
          </a:xfrm>
          <a:prstGeom prst="roundRect">
            <a:avLst/>
          </a:prstGeom>
          <a:solidFill>
            <a:srgbClr val="FCEFDE"/>
          </a:solidFill>
          <a:ln>
            <a:solidFill>
              <a:srgbClr val="CD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10 TB database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371600"/>
            <a:ext cx="3017520" cy="109728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Low RTO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4241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3272B"/>
                </a:solidFill>
              </a:defRPr>
            </a:pPr>
            <a:r>
              <a:t>A logical restore can be practical for smaller datasets but may take much longer as data volume grows.</a:t>
            </a:r>
          </a:p>
          <a:p>
            <a:pPr>
              <a:spcAft>
                <a:spcPts val="900"/>
              </a:spcAft>
              <a:defRPr sz="1800" b="0">
                <a:solidFill>
                  <a:srgbClr val="23272B"/>
                </a:solidFill>
              </a:defRPr>
            </a:pPr>
            <a:r>
              <a:t>Large databases + very low RTO can push the design toward storage snapshots, replicas, automation or managed recovery capabilities.</a:t>
            </a:r>
          </a:p>
          <a:p>
            <a:pPr>
              <a:spcAft>
                <a:spcPts val="900"/>
              </a:spcAft>
              <a:defRPr sz="1800" b="0">
                <a:solidFill>
                  <a:srgbClr val="23272B"/>
                </a:solidFill>
              </a:defRPr>
            </a:pPr>
            <a:r>
              <a:t>Always measure restore time using production-like data volumes.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RPO/RTO Also Affect Cost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63040"/>
            <a:ext cx="251460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Lower RPO</a:t>
            </a:r>
          </a:p>
        </p:txBody>
      </p:sp>
      <p:sp>
        <p:nvSpPr>
          <p:cNvPr id="4" name="Chevron 3"/>
          <p:cNvSpPr/>
          <p:nvPr/>
        </p:nvSpPr>
        <p:spPr>
          <a:xfrm>
            <a:off x="3090672" y="171907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29000" y="1463040"/>
            <a:ext cx="251460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More frequent data capture</a:t>
            </a:r>
          </a:p>
        </p:txBody>
      </p:sp>
      <p:sp>
        <p:nvSpPr>
          <p:cNvPr id="6" name="Chevron 5"/>
          <p:cNvSpPr/>
          <p:nvPr/>
        </p:nvSpPr>
        <p:spPr>
          <a:xfrm>
            <a:off x="6016752" y="171907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55080" y="1463040"/>
            <a:ext cx="251460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More storage / bandwidth / processing</a:t>
            </a:r>
          </a:p>
        </p:txBody>
      </p:sp>
      <p:sp>
        <p:nvSpPr>
          <p:cNvPr id="8" name="Chevron 7"/>
          <p:cNvSpPr/>
          <p:nvPr/>
        </p:nvSpPr>
        <p:spPr>
          <a:xfrm>
            <a:off x="8942832" y="171907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281160" y="1463040"/>
            <a:ext cx="251460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Higher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703320"/>
            <a:ext cx="2514600" cy="914400"/>
          </a:xfrm>
          <a:prstGeom prst="roundRect">
            <a:avLst/>
          </a:prstGeom>
          <a:solidFill>
            <a:srgbClr val="E6F5EC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Lower RTO</a:t>
            </a:r>
          </a:p>
        </p:txBody>
      </p:sp>
      <p:sp>
        <p:nvSpPr>
          <p:cNvPr id="11" name="Chevron 10"/>
          <p:cNvSpPr/>
          <p:nvPr/>
        </p:nvSpPr>
        <p:spPr>
          <a:xfrm>
            <a:off x="3090672" y="395935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29000" y="3703320"/>
            <a:ext cx="2514600" cy="914400"/>
          </a:xfrm>
          <a:prstGeom prst="roundRect">
            <a:avLst/>
          </a:prstGeom>
          <a:solidFill>
            <a:srgbClr val="E6F5EC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Faster recovery infrastructure</a:t>
            </a:r>
          </a:p>
        </p:txBody>
      </p:sp>
      <p:sp>
        <p:nvSpPr>
          <p:cNvPr id="13" name="Chevron 12"/>
          <p:cNvSpPr/>
          <p:nvPr/>
        </p:nvSpPr>
        <p:spPr>
          <a:xfrm>
            <a:off x="6016752" y="395935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55080" y="3703320"/>
            <a:ext cx="2514600" cy="914400"/>
          </a:xfrm>
          <a:prstGeom prst="roundRect">
            <a:avLst/>
          </a:prstGeom>
          <a:solidFill>
            <a:srgbClr val="E6F5EC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Automation / redundancy</a:t>
            </a:r>
          </a:p>
        </p:txBody>
      </p:sp>
      <p:sp>
        <p:nvSpPr>
          <p:cNvPr id="15" name="Chevron 14"/>
          <p:cNvSpPr/>
          <p:nvPr/>
        </p:nvSpPr>
        <p:spPr>
          <a:xfrm>
            <a:off x="8942832" y="395935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281160" y="3703320"/>
            <a:ext cx="2514600" cy="914400"/>
          </a:xfrm>
          <a:prstGeom prst="roundRect">
            <a:avLst/>
          </a:prstGeom>
          <a:solidFill>
            <a:srgbClr val="E6F5EC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Higher cost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715000"/>
            <a:ext cx="10241280" cy="594360"/>
          </a:xfrm>
          <a:prstGeom prst="roundRect">
            <a:avLst/>
          </a:prstGeom>
          <a:solidFill>
            <a:srgbClr val="FCEFDE"/>
          </a:solidFill>
          <a:ln>
            <a:solidFill>
              <a:srgbClr val="CD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CD7023"/>
                </a:solidFill>
              </a:defRPr>
            </a:pPr>
            <a:r>
              <a:t>Business trade-off</a:t>
            </a:r>
          </a:p>
          <a:p>
            <a:pPr>
              <a:spcBef>
                <a:spcPts val="500"/>
              </a:spcBef>
              <a:defRPr sz="1300">
                <a:solidFill>
                  <a:srgbClr val="23272B"/>
                </a:solidFill>
              </a:defRPr>
            </a:pPr>
            <a:r>
              <a:t>The business cannot simply ask for zero data loss and zero downtime without considering the cost and complexity required to achieve those targets.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RPO/RTO Are Application-Specific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325880"/>
          <a:ext cx="98755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System</a:t>
                      </a:r>
                    </a:p>
                  </a:txBody>
                  <a:tcPr marL="64008" marR="64008">
                    <a:solidFill>
                      <a:srgbClr val="18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Illustrative RPO</a:t>
                      </a:r>
                    </a:p>
                  </a:txBody>
                  <a:tcPr marL="64008" marR="64008">
                    <a:solidFill>
                      <a:srgbClr val="18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Illustrative RTO</a:t>
                      </a:r>
                    </a:p>
                  </a:txBody>
                  <a:tcPr marL="64008" marR="64008">
                    <a:solidFill>
                      <a:srgbClr val="18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Banking transactions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1–5 min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5–15 min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E-commerce orders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5–15 min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30 min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HR application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1 hour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4 hours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Analytics / reporting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24 hours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8 hours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Development database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24+ hours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</a:defRPr>
                      </a:pPr>
                      <a:r>
                        <a:t>24+ hours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22960" y="5669280"/>
            <a:ext cx="10515600" cy="594360"/>
          </a:xfrm>
          <a:prstGeom prst="roundRect">
            <a:avLst/>
          </a:prstGeom>
          <a:solidFill>
            <a:srgbClr val="FCEFDE"/>
          </a:solidFill>
          <a:ln>
            <a:solidFill>
              <a:srgbClr val="CD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CD7023"/>
                </a:solidFill>
              </a:defRPr>
            </a:pPr>
            <a:r>
              <a:t>Important</a:t>
            </a:r>
          </a:p>
          <a:p>
            <a:pPr>
              <a:spcBef>
                <a:spcPts val="500"/>
              </a:spcBef>
              <a:defRPr sz="1300">
                <a:solidFill>
                  <a:srgbClr val="23272B"/>
                </a:solidFill>
              </a:defRPr>
            </a:pPr>
            <a:r>
              <a:t>These are teaching examples, not fixed industry standards. The actual targets must come from the business/application owner.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SLA vs RPO vs RTO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474720" cy="13716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82A42"/>
                </a:solidFill>
              </a:defRPr>
            </a:pPr>
            <a:r>
              <a:t>SLA</a:t>
            </a:r>
            <a:br/>
            <a:r>
              <a:t>Availability / service commitment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474720" cy="1371600"/>
          </a:xfrm>
          <a:prstGeom prst="roundRect">
            <a:avLst/>
          </a:prstGeom>
          <a:solidFill>
            <a:srgbClr val="E6F5EC"/>
          </a:solidFill>
          <a:ln>
            <a:solidFill>
              <a:srgbClr val="2E7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82A42"/>
                </a:solidFill>
              </a:defRPr>
            </a:pPr>
            <a:r>
              <a:t>RPO</a:t>
            </a:r>
            <a:br/>
            <a:r>
              <a:t>Acceptable data loss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371600"/>
            <a:ext cx="3474720" cy="1371600"/>
          </a:xfrm>
          <a:prstGeom prst="roundRect">
            <a:avLst/>
          </a:prstGeom>
          <a:solidFill>
            <a:srgbClr val="FCEFDE"/>
          </a:solidFill>
          <a:ln>
            <a:solidFill>
              <a:srgbClr val="CD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82A42"/>
                </a:solidFill>
              </a:defRPr>
            </a:pPr>
            <a:r>
              <a:t>RTO</a:t>
            </a:r>
            <a:br/>
            <a:r>
              <a:t>Recovery time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42416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3272B"/>
                </a:solidFill>
              </a:defRPr>
            </a:pPr>
            <a:r>
              <a:t>SLA: business/customer commitment about service availability.</a:t>
            </a:r>
          </a:p>
          <a:p>
            <a:pPr>
              <a:spcAft>
                <a:spcPts val="900"/>
              </a:spcAft>
              <a:defRPr sz="1900" b="0">
                <a:solidFill>
                  <a:srgbClr val="23272B"/>
                </a:solidFill>
              </a:defRPr>
            </a:pPr>
            <a:r>
              <a:t>RPO: how much recent data the business can afford to lose.</a:t>
            </a:r>
          </a:p>
          <a:p>
            <a:pPr>
              <a:spcAft>
                <a:spcPts val="900"/>
              </a:spcAft>
              <a:defRPr sz="1900" b="0">
                <a:solidFill>
                  <a:srgbClr val="23272B"/>
                </a:solidFill>
              </a:defRPr>
            </a:pPr>
            <a:r>
              <a:t>RTO: how quickly the service must be restored after disruption.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0119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rPr dirty="0"/>
              <a:t>Scenario — E-Commerce Orders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10789920" cy="141732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A67AA"/>
                </a:solidFill>
              </a:defRPr>
            </a:pPr>
            <a:r>
              <a:t>Business requirement</a:t>
            </a:r>
          </a:p>
          <a:p>
            <a:pPr>
              <a:spcBef>
                <a:spcPts val="500"/>
              </a:spcBef>
              <a:defRPr sz="1300">
                <a:solidFill>
                  <a:srgbClr val="23272B"/>
                </a:solidFill>
              </a:defRPr>
            </a:pPr>
            <a:r>
              <a:t>An e-commerce company processes high-value orders in MongoDB. Losing more than 10 minutes of orders is unacceptable. The website must be operational within 30 minutes after a database failure.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88036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 marL="64008" marR="64008">
                    <a:solidFill>
                      <a:srgbClr val="18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Answer</a:t>
                      </a:r>
                    </a:p>
                  </a:txBody>
                  <a:tcPr marL="64008" marR="64008">
                    <a:solidFill>
                      <a:srgbClr val="18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72B"/>
                          </a:solidFill>
                        </a:defRPr>
                      </a:pPr>
                      <a:r>
                        <a:t>RPO?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72B"/>
                          </a:solidFill>
                        </a:defRPr>
                      </a:pPr>
                      <a:r>
                        <a:t>10 minutes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72B"/>
                          </a:solidFill>
                        </a:defRPr>
                      </a:pPr>
                      <a:r>
                        <a:t>RTO?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72B"/>
                          </a:solidFill>
                        </a:defRPr>
                      </a:pPr>
                      <a:r>
                        <a:t>30 minutes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72B"/>
                          </a:solidFill>
                        </a:defRPr>
                      </a:pPr>
                      <a:r>
                        <a:t>Is daily mongodump sufficient?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72B"/>
                          </a:solidFill>
                        </a:defRPr>
                      </a:pPr>
                      <a:r>
                        <a:t>No — it does not meet the RPO.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72B"/>
                          </a:solidFill>
                        </a:defRPr>
                      </a:pPr>
                      <a:r>
                        <a:t>What should we investigate?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72B"/>
                          </a:solidFill>
                        </a:defRPr>
                      </a:pPr>
                      <a:r>
                        <a:t>Replica set + oplog retention + frequent/continuous backup + PITR + fast recovery + remote storage + automation</a:t>
                      </a:r>
                    </a:p>
                  </a:txBody>
                  <a:tcPr marL="64008" marR="64008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72B"/>
                          </a:solidFill>
                        </a:defRPr>
                      </a:pPr>
                      <a:r>
                        <a:rPr dirty="0"/>
                        <a:t>How do we prove RTO?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72B"/>
                          </a:solidFill>
                        </a:defRPr>
                      </a:pPr>
                      <a:r>
                        <a:rPr dirty="0"/>
                        <a:t>Perform a recovery drill and measure it.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Hands-On Lab: Backup → Disaster → Restore → Verify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417320"/>
            <a:ext cx="150876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Create DB</a:t>
            </a:r>
          </a:p>
        </p:txBody>
      </p:sp>
      <p:sp>
        <p:nvSpPr>
          <p:cNvPr id="4" name="Chevron 3"/>
          <p:cNvSpPr/>
          <p:nvPr/>
        </p:nvSpPr>
        <p:spPr>
          <a:xfrm>
            <a:off x="1901952" y="167335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993391" y="1417320"/>
            <a:ext cx="150876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Insert data</a:t>
            </a:r>
          </a:p>
        </p:txBody>
      </p:sp>
      <p:sp>
        <p:nvSpPr>
          <p:cNvPr id="6" name="Chevron 5"/>
          <p:cNvSpPr/>
          <p:nvPr/>
        </p:nvSpPr>
        <p:spPr>
          <a:xfrm>
            <a:off x="3575303" y="167335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66744" y="1417320"/>
            <a:ext cx="150876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Create indexes</a:t>
            </a:r>
          </a:p>
        </p:txBody>
      </p:sp>
      <p:sp>
        <p:nvSpPr>
          <p:cNvPr id="8" name="Chevron 7"/>
          <p:cNvSpPr/>
          <p:nvPr/>
        </p:nvSpPr>
        <p:spPr>
          <a:xfrm>
            <a:off x="5248656" y="167335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40096" y="1417320"/>
            <a:ext cx="150876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Take backup</a:t>
            </a:r>
          </a:p>
        </p:txBody>
      </p:sp>
      <p:sp>
        <p:nvSpPr>
          <p:cNvPr id="10" name="Chevron 9"/>
          <p:cNvSpPr/>
          <p:nvPr/>
        </p:nvSpPr>
        <p:spPr>
          <a:xfrm>
            <a:off x="6922008" y="167335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013448" y="1417320"/>
            <a:ext cx="150876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Simulate disaster</a:t>
            </a:r>
          </a:p>
        </p:txBody>
      </p:sp>
      <p:sp>
        <p:nvSpPr>
          <p:cNvPr id="12" name="Chevron 11"/>
          <p:cNvSpPr/>
          <p:nvPr/>
        </p:nvSpPr>
        <p:spPr>
          <a:xfrm>
            <a:off x="8595360" y="167335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86800" y="1417320"/>
            <a:ext cx="150876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Restore</a:t>
            </a:r>
          </a:p>
        </p:txBody>
      </p:sp>
      <p:sp>
        <p:nvSpPr>
          <p:cNvPr id="14" name="Chevron 13"/>
          <p:cNvSpPr/>
          <p:nvPr/>
        </p:nvSpPr>
        <p:spPr>
          <a:xfrm>
            <a:off x="10268712" y="167335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360152" y="1417320"/>
            <a:ext cx="150876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926080"/>
            <a:ext cx="1051560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3272B"/>
                </a:solidFill>
              </a:defRPr>
            </a:pPr>
            <a:r>
              <a:t>Use the company database with employees, departments and projects.</a:t>
            </a:r>
          </a:p>
          <a:p>
            <a:pPr>
              <a:spcAft>
                <a:spcPts val="900"/>
              </a:spcAft>
              <a:defRPr sz="1700" b="0">
                <a:solidFill>
                  <a:srgbClr val="23272B"/>
                </a:solidFill>
              </a:defRPr>
            </a:pPr>
            <a:r>
              <a:t>Create indexes before the backup.</a:t>
            </a:r>
          </a:p>
          <a:p>
            <a:pPr>
              <a:spcAft>
                <a:spcPts val="900"/>
              </a:spcAft>
              <a:defRPr sz="1700" b="0">
                <a:solidFill>
                  <a:srgbClr val="23272B"/>
                </a:solidFill>
              </a:defRPr>
            </a:pPr>
            <a:r>
              <a:t>Delete data to simulate an accidental incident.</a:t>
            </a:r>
          </a:p>
          <a:p>
            <a:pPr>
              <a:spcAft>
                <a:spcPts val="900"/>
              </a:spcAft>
              <a:defRPr sz="1700" b="0">
                <a:solidFill>
                  <a:srgbClr val="23272B"/>
                </a:solidFill>
              </a:defRPr>
            </a:pPr>
            <a:r>
              <a:t>Restore with mongorestore.</a:t>
            </a:r>
          </a:p>
          <a:p>
            <a:pPr>
              <a:spcAft>
                <a:spcPts val="900"/>
              </a:spcAft>
              <a:defRPr sz="1700" b="0">
                <a:solidFill>
                  <a:srgbClr val="23272B"/>
                </a:solidFill>
              </a:defRPr>
            </a:pPr>
            <a:r>
              <a:t>Verify documents and indexes.</a:t>
            </a:r>
          </a:p>
          <a:p>
            <a:pPr>
              <a:spcAft>
                <a:spcPts val="900"/>
              </a:spcAft>
              <a:defRPr sz="1700" b="0">
                <a:solidFill>
                  <a:srgbClr val="23272B"/>
                </a:solidFill>
              </a:defRPr>
            </a:pPr>
            <a:r>
              <a:t>Extend the lab with a replica set and oplog-based recovery.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Hands-On Lab — Commands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97280"/>
            <a:ext cx="10972800" cy="5029200"/>
          </a:xfrm>
          <a:prstGeom prst="roundRect">
            <a:avLst/>
          </a:prstGeom>
          <a:solidFill>
            <a:srgbClr val="1D2126"/>
          </a:solidFill>
          <a:ln>
            <a:solidFill>
              <a:srgbClr val="41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tlCol="0" anchor="ctr"/>
          <a:lstStyle/>
          <a:p>
            <a:pPr algn="ctr">
              <a:defRPr sz="1250">
                <a:solidFill>
                  <a:srgbClr val="E8ECF0"/>
                </a:solidFill>
                <a:latin typeface="Consolas"/>
              </a:defRPr>
            </a:pPr>
            <a:r>
              <a:t>use company</a:t>
            </a:r>
            <a:br/>
            <a:br/>
            <a:r>
              <a:t>db.employees.insertMany([</a:t>
            </a:r>
            <a:br/>
            <a:r>
              <a:t>  {empId: 101, name: "Anu", dept: "IT"},</a:t>
            </a:r>
            <a:br/>
            <a:r>
              <a:t>  {empId: 102, name: "Rahul", dept: "HR"},</a:t>
            </a:r>
            <a:br/>
            <a:r>
              <a:t>  {empId: 103, name: "Priya", dept: "Finance"}</a:t>
            </a:r>
            <a:br/>
            <a:r>
              <a:t>])</a:t>
            </a:r>
            <a:br/>
            <a:br/>
            <a:r>
              <a:t>db.employees.createIndex({empId: 1})</a:t>
            </a:r>
            <a:br/>
            <a:br/>
            <a:r>
              <a:t>mongodump --db=company --out=/backup/company</a:t>
            </a:r>
            <a:br/>
            <a:br/>
            <a:r>
              <a:t>db.employees.deleteMany({})</a:t>
            </a:r>
            <a:br/>
            <a:br/>
            <a:r>
              <a:t>mongorestore --db=company /backup/company/company</a:t>
            </a:r>
            <a:br/>
            <a:br/>
            <a:r>
              <a:t>db.employees.find()</a:t>
            </a:r>
            <a:br/>
            <a:r>
              <a:t>db.employees.getIndexes()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Backup Validation: A Backup Is Not Proven Until It Restores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2743200" cy="109728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Backup completed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09160" y="1463040"/>
            <a:ext cx="2743200" cy="1097280"/>
          </a:xfrm>
          <a:prstGeom prst="roundRect">
            <a:avLst/>
          </a:prstGeom>
          <a:solidFill>
            <a:srgbClr val="E6F5EC"/>
          </a:solidFill>
          <a:ln>
            <a:solidFill>
              <a:srgbClr val="2E7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Restore tested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1463040"/>
            <a:ext cx="2743200" cy="1097280"/>
          </a:xfrm>
          <a:prstGeom prst="roundRect">
            <a:avLst/>
          </a:prstGeom>
          <a:solidFill>
            <a:srgbClr val="E6F5EC"/>
          </a:solidFill>
          <a:ln>
            <a:solidFill>
              <a:srgbClr val="2E7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Recovery proven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241280" cy="233140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23272B"/>
                </a:solidFill>
              </a:defRPr>
            </a:pPr>
            <a:r>
              <a:rPr dirty="0"/>
              <a:t>Check backup files and sizes.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23272B"/>
                </a:solidFill>
              </a:defRPr>
            </a:pPr>
            <a:r>
              <a:rPr dirty="0"/>
              <a:t>Restore to an isolated/test database where practical.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23272B"/>
                </a:solidFill>
              </a:defRPr>
            </a:pPr>
            <a:r>
              <a:rPr dirty="0"/>
              <a:t>Verify documents.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23272B"/>
                </a:solidFill>
              </a:defRPr>
            </a:pPr>
            <a:r>
              <a:rPr dirty="0"/>
              <a:t>Verify indexes and collection metadata.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23272B"/>
                </a:solidFill>
              </a:defRPr>
            </a:pPr>
            <a:r>
              <a:rPr dirty="0"/>
              <a:t>Verify application connectivity.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23272B"/>
                </a:solidFill>
              </a:defRPr>
            </a:pPr>
            <a:r>
              <a:rPr dirty="0"/>
              <a:t>Record restore duration to measure RTO.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Ubuntu: Backup Automation with cron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698480" cy="1645920"/>
          </a:xfrm>
          <a:prstGeom prst="roundRect">
            <a:avLst/>
          </a:prstGeom>
          <a:solidFill>
            <a:srgbClr val="1D2126"/>
          </a:solidFill>
          <a:ln>
            <a:solidFill>
              <a:srgbClr val="41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tlCol="0" anchor="ctr"/>
          <a:lstStyle/>
          <a:p>
            <a:pPr algn="ctr">
              <a:defRPr sz="1500">
                <a:solidFill>
                  <a:srgbClr val="E8ECF0"/>
                </a:solidFill>
                <a:latin typeface="Consolas"/>
              </a:defRPr>
            </a:pPr>
            <a:r>
              <a:t>crontab -e</a:t>
            </a:r>
            <a:br/>
            <a:br/>
            <a:r>
              <a:t>0 2 * * * mongodump --db=company --out=/backup/company-$(date +\%Y-\%m-\%d)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383280"/>
            <a:ext cx="10332720" cy="143116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23272B"/>
                </a:solidFill>
              </a:defRPr>
            </a:pPr>
            <a:r>
              <a:rPr dirty="0"/>
              <a:t>Example: run every day at 2:00 AM.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23272B"/>
                </a:solidFill>
              </a:defRPr>
            </a:pPr>
            <a:r>
              <a:rPr dirty="0"/>
              <a:t>Production automation should also include logging, error handling, retention, disk-space checks, secure credentials and failure notification.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23272B"/>
                </a:solidFill>
              </a:defRPr>
            </a:pPr>
            <a:r>
              <a:rPr dirty="0"/>
              <a:t>Do not confuse 'scheduled backup' with 'tested recovery'.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Backup Retention Policy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2743200" cy="118872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82A42"/>
                </a:solidFill>
              </a:defRPr>
            </a:pPr>
            <a:r>
              <a:t>Daily</a:t>
            </a:r>
            <a:br/>
            <a:r>
              <a:t>7 days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09160" y="1371600"/>
            <a:ext cx="2743200" cy="1188720"/>
          </a:xfrm>
          <a:prstGeom prst="roundRect">
            <a:avLst/>
          </a:prstGeom>
          <a:solidFill>
            <a:srgbClr val="E6F5EC"/>
          </a:solidFill>
          <a:ln>
            <a:solidFill>
              <a:srgbClr val="2E7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82A42"/>
                </a:solidFill>
              </a:defRPr>
            </a:pPr>
            <a:r>
              <a:t>Weekly</a:t>
            </a:r>
            <a:br/>
            <a:r>
              <a:t>4 weeks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1371600"/>
            <a:ext cx="2743200" cy="1188720"/>
          </a:xfrm>
          <a:prstGeom prst="roundRect">
            <a:avLst/>
          </a:prstGeom>
          <a:solidFill>
            <a:srgbClr val="FCEFDE"/>
          </a:solidFill>
          <a:ln>
            <a:solidFill>
              <a:srgbClr val="CD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82A42"/>
                </a:solidFill>
              </a:defRPr>
            </a:pPr>
            <a:r>
              <a:t>Monthly</a:t>
            </a:r>
            <a:br/>
            <a:r>
              <a:t>12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10515600" cy="15465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23272B"/>
                </a:solidFill>
              </a:defRPr>
            </a:pPr>
            <a:r>
              <a:rPr dirty="0"/>
              <a:t>Illustrative policy only — actual retention depends on business, compliance and storage requirements.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23272B"/>
                </a:solidFill>
              </a:defRPr>
            </a:pPr>
            <a:r>
              <a:rPr dirty="0"/>
              <a:t>Retention prevents uncontrolled backup growth.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23272B"/>
                </a:solidFill>
              </a:defRPr>
            </a:pPr>
            <a:r>
              <a:rPr dirty="0"/>
              <a:t>Store backups independently from the primary database where possible.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23272B"/>
                </a:solidFill>
              </a:defRPr>
            </a:pPr>
            <a:r>
              <a:rPr dirty="0"/>
              <a:t>Include restore testing in the retention/recovery policy.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DBA Decision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463040"/>
            <a:ext cx="173736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Define RPO</a:t>
            </a:r>
          </a:p>
        </p:txBody>
      </p:sp>
      <p:sp>
        <p:nvSpPr>
          <p:cNvPr id="4" name="Chevron 3"/>
          <p:cNvSpPr/>
          <p:nvPr/>
        </p:nvSpPr>
        <p:spPr>
          <a:xfrm>
            <a:off x="2221992" y="171907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377440" y="1463040"/>
            <a:ext cx="173736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Define RTO</a:t>
            </a:r>
          </a:p>
        </p:txBody>
      </p:sp>
      <p:sp>
        <p:nvSpPr>
          <p:cNvPr id="6" name="Chevron 5"/>
          <p:cNvSpPr/>
          <p:nvPr/>
        </p:nvSpPr>
        <p:spPr>
          <a:xfrm>
            <a:off x="4187952" y="171907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173736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Choose backup method</a:t>
            </a:r>
          </a:p>
        </p:txBody>
      </p:sp>
      <p:sp>
        <p:nvSpPr>
          <p:cNvPr id="8" name="Chevron 7"/>
          <p:cNvSpPr/>
          <p:nvPr/>
        </p:nvSpPr>
        <p:spPr>
          <a:xfrm>
            <a:off x="6153912" y="171907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173736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Design storage</a:t>
            </a:r>
          </a:p>
        </p:txBody>
      </p:sp>
      <p:sp>
        <p:nvSpPr>
          <p:cNvPr id="10" name="Chevron 9"/>
          <p:cNvSpPr/>
          <p:nvPr/>
        </p:nvSpPr>
        <p:spPr>
          <a:xfrm>
            <a:off x="8119872" y="171907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75320" y="1463040"/>
            <a:ext cx="173736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Automate</a:t>
            </a:r>
          </a:p>
        </p:txBody>
      </p:sp>
      <p:sp>
        <p:nvSpPr>
          <p:cNvPr id="12" name="Chevron 11"/>
          <p:cNvSpPr/>
          <p:nvPr/>
        </p:nvSpPr>
        <p:spPr>
          <a:xfrm>
            <a:off x="10085832" y="1719072"/>
            <a:ext cx="320040" cy="411480"/>
          </a:xfrm>
          <a:prstGeom prst="chevron">
            <a:avLst/>
          </a:prstGeom>
          <a:solidFill>
            <a:srgbClr val="2A67A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241280" y="1463040"/>
            <a:ext cx="173736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Test 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46120"/>
            <a:ext cx="10424160" cy="19389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23272B"/>
                </a:solidFill>
              </a:defRPr>
            </a:pPr>
            <a:r>
              <a:rPr dirty="0"/>
              <a:t>Start with business requirements, not with a tool.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23272B"/>
                </a:solidFill>
              </a:defRPr>
            </a:pPr>
            <a:r>
              <a:rPr dirty="0"/>
              <a:t>Select logical, snapshot, managed or hybrid backup based on scale and recovery objectives.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23272B"/>
                </a:solidFill>
              </a:defRPr>
            </a:pPr>
            <a:r>
              <a:rPr dirty="0"/>
              <a:t>Ensure backup storage survives a failure of the primary host.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23272B"/>
                </a:solidFill>
              </a:defRPr>
            </a:pPr>
            <a:r>
              <a:rPr dirty="0"/>
              <a:t>Measure actual restore/PITR performance against RTO.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23272B"/>
                </a:solidFill>
              </a:defRPr>
            </a:pPr>
            <a:r>
              <a:rPr dirty="0"/>
              <a:t>Review and test the recovery process regularly.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33624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 b="0">
                <a:solidFill>
                  <a:srgbClr val="23272B"/>
                </a:solidFill>
              </a:defRPr>
            </a:pPr>
            <a:r>
              <a:rPr dirty="0" err="1"/>
              <a:t>mongodump</a:t>
            </a:r>
            <a:r>
              <a:rPr dirty="0"/>
              <a:t>/</a:t>
            </a:r>
            <a:r>
              <a:rPr dirty="0" err="1"/>
              <a:t>mongorestore</a:t>
            </a:r>
            <a:r>
              <a:rPr dirty="0"/>
              <a:t> are logical backup and restore tools.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 b="0">
                <a:solidFill>
                  <a:srgbClr val="23272B"/>
                </a:solidFill>
              </a:defRPr>
            </a:pPr>
            <a:r>
              <a:rPr dirty="0"/>
              <a:t>Filesystem/block-level snapshots are important for large or fast-recovery environments.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 b="0">
                <a:solidFill>
                  <a:srgbClr val="23272B"/>
                </a:solidFill>
              </a:defRPr>
            </a:pPr>
            <a:r>
              <a:rPr dirty="0"/>
              <a:t>Replica-set </a:t>
            </a:r>
            <a:r>
              <a:rPr dirty="0" err="1"/>
              <a:t>oplog</a:t>
            </a:r>
            <a:r>
              <a:rPr dirty="0"/>
              <a:t> history enables recovery of changes and is central to PITR strategies.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 b="0">
                <a:solidFill>
                  <a:srgbClr val="23272B"/>
                </a:solidFill>
              </a:defRPr>
            </a:pPr>
            <a:r>
              <a:rPr dirty="0"/>
              <a:t>Ops Manager and Atlas provide managed backup capabilities for applicable deployments.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 b="0">
                <a:solidFill>
                  <a:srgbClr val="23272B"/>
                </a:solidFill>
              </a:defRPr>
            </a:pPr>
            <a:r>
              <a:rPr dirty="0"/>
              <a:t>Replication provides high availability, but replication is not a backup.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 b="0">
                <a:solidFill>
                  <a:srgbClr val="23272B"/>
                </a:solidFill>
              </a:defRPr>
            </a:pPr>
            <a:r>
              <a:rPr dirty="0"/>
              <a:t>RPO answers: 'How much data can we lose?'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 b="0">
                <a:solidFill>
                  <a:srgbClr val="23272B"/>
                </a:solidFill>
              </a:defRPr>
            </a:pPr>
            <a:r>
              <a:rPr dirty="0"/>
              <a:t>RTO answers: 'How quickly must we recover?'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 b="0">
                <a:solidFill>
                  <a:srgbClr val="23272B"/>
                </a:solidFill>
              </a:defRPr>
            </a:pPr>
            <a:r>
              <a:rPr dirty="0"/>
              <a:t>The real goal is proven recoverability — not simply having backup 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2"/>
                </a:solidFill>
              </a:defRPr>
            </a:pPr>
            <a:r>
              <a:t>The Complete MongoDB Recovery Picture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97680" y="1005840"/>
            <a:ext cx="3566160" cy="1005840"/>
          </a:xfrm>
          <a:prstGeom prst="roundRect">
            <a:avLst/>
          </a:prstGeom>
          <a:solidFill>
            <a:srgbClr val="E5EFFA"/>
          </a:solidFill>
          <a:ln>
            <a:solidFill>
              <a:srgbClr val="2A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82A42"/>
                </a:solidFill>
              </a:defRPr>
            </a:pPr>
            <a:r>
              <a:t>Business requirements</a:t>
            </a:r>
            <a:br/>
            <a:r>
              <a:t>RPO + RTO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3291840" cy="1143000"/>
          </a:xfrm>
          <a:prstGeom prst="roundRect">
            <a:avLst/>
          </a:prstGeom>
          <a:solidFill>
            <a:srgbClr val="E6F5EC"/>
          </a:solidFill>
          <a:ln>
            <a:solidFill>
              <a:srgbClr val="2E7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Backup architecture</a:t>
            </a:r>
            <a:br/>
            <a:r>
              <a:t>Logical / Snapshot / Managed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2743200"/>
            <a:ext cx="3291840" cy="1143000"/>
          </a:xfrm>
          <a:prstGeom prst="roundRect">
            <a:avLst/>
          </a:prstGeom>
          <a:solidFill>
            <a:srgbClr val="FCEFDE"/>
          </a:solidFill>
          <a:ln>
            <a:solidFill>
              <a:srgbClr val="CD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Recovery mechanisms</a:t>
            </a:r>
            <a:br/>
            <a:r>
              <a:t>Oplog / PITR / HA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2743200"/>
            <a:ext cx="3291840" cy="1143000"/>
          </a:xfrm>
          <a:prstGeom prst="roundRect">
            <a:avLst/>
          </a:prstGeom>
          <a:solidFill>
            <a:srgbClr val="E6F5EC"/>
          </a:solidFill>
          <a:ln>
            <a:solidFill>
              <a:srgbClr val="2E7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82A42"/>
                </a:solidFill>
              </a:defRPr>
            </a:pPr>
            <a:r>
              <a:t>Recovery validation</a:t>
            </a:r>
            <a:br/>
            <a:r>
              <a:t>Restore drills + measurement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892040"/>
            <a:ext cx="8503920" cy="868680"/>
          </a:xfrm>
          <a:prstGeom prst="roundRect">
            <a:avLst/>
          </a:prstGeom>
          <a:solidFill>
            <a:srgbClr val="182A4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</a:rPr>
              <a:t>Final principle</a:t>
            </a:r>
          </a:p>
          <a:p>
            <a:pPr>
              <a:spcBef>
                <a:spcPts val="500"/>
              </a:spcBef>
              <a:defRPr sz="1300">
                <a:solidFill>
                  <a:srgbClr val="23272B"/>
                </a:solidFill>
              </a:defRPr>
            </a:pPr>
            <a:r>
              <a:rPr dirty="0">
                <a:solidFill>
                  <a:schemeClr val="bg1"/>
                </a:solidFill>
              </a:rPr>
              <a:t>Backup is not the objective. Recoverability is the objective.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770"/>
                </a:solidFill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3222</Words>
  <Application>Microsoft Office PowerPoint</Application>
  <PresentationFormat>Widescreen</PresentationFormat>
  <Paragraphs>523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Calibri</vt:lpstr>
      <vt:lpstr>Courier New</vt:lpstr>
      <vt:lpstr>Wingdings</vt:lpstr>
      <vt:lpstr>Office Theme</vt:lpstr>
      <vt:lpstr>PowerPoint Presentation</vt:lpstr>
      <vt:lpstr>MongoDB Backup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anju munoth</cp:lastModifiedBy>
  <cp:revision>13</cp:revision>
  <dcterms:created xsi:type="dcterms:W3CDTF">2013-01-27T09:14:16Z</dcterms:created>
  <dcterms:modified xsi:type="dcterms:W3CDTF">2026-10-05T08:20:22Z</dcterms:modified>
  <cp:category/>
</cp:coreProperties>
</file>