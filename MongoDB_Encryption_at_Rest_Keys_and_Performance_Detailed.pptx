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51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78240" y="594360"/>
            <a:ext cx="2286000" cy="1051560"/>
          </a:xfrm>
          <a:prstGeom prst="round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0" y="1828800"/>
            <a:ext cx="1463040" cy="2011680"/>
          </a:xfrm>
          <a:prstGeom prst="roundRect">
            <a:avLst/>
          </a:prstGeom>
          <a:solidFill>
            <a:srgbClr val="24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55279" y="4251960"/>
            <a:ext cx="2834640" cy="1188720"/>
          </a:xfrm>
          <a:prstGeom prst="round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MongoDB Encryption at Rest</a:t>
            </a:r>
          </a:p>
          <a:p>
            <a:pPr>
              <a:spcBef>
                <a:spcPts val="1200"/>
              </a:spcBef>
              <a:defRPr sz="1800">
                <a:solidFill>
                  <a:srgbClr val="CDDAEB"/>
                </a:solidFill>
                <a:latin typeface="Aptos"/>
              </a:defRPr>
            </a:pPr>
            <a:r>
              <a:t>WiredTiger Encryption • Key Hierarchy • KMS/HSM • Performance • Backup &amp;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246120"/>
            <a:ext cx="7040880" cy="1234440"/>
          </a:xfrm>
          <a:prstGeom prst="roundRect">
            <a:avLst/>
          </a:prstGeom>
          <a:solidFill>
            <a:srgbClr val="1E2D44"/>
          </a:solidFill>
          <a:ln w="12700">
            <a:solidFill>
              <a:srgbClr val="405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500">
                <a:solidFill>
                  <a:srgbClr val="232A34"/>
                </a:solidFill>
                <a:latin typeface="Aptos"/>
              </a:defRPr>
            </a:pPr>
            <a:r>
              <a:t>How MongoDB protects persisted data, how encryption keys are managed, what happens during reads/writes, and what DBAs must plan for.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Two encryption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TLS and encryption at rest solve different security problems.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APPLICATION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Business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64008" cy="1143000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17720" y="192024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MONGODB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mongod + WiredTiger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920240"/>
            <a:ext cx="64008" cy="1143000"/>
          </a:xfrm>
          <a:prstGeom prst="rect">
            <a:avLst/>
          </a:prstGeom>
          <a:solidFill>
            <a:srgbClr val="32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0" y="192024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STORAGE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Database files / journal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920240"/>
            <a:ext cx="64008" cy="114300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703320" y="2487168"/>
            <a:ext cx="868680" cy="0"/>
          </a:xfrm>
          <a:prstGeom prst="line">
            <a:avLst/>
          </a:prstGeom>
          <a:ln w="381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2487168"/>
            <a:ext cx="868680" cy="0"/>
          </a:xfrm>
          <a:prstGeom prst="line">
            <a:avLst/>
          </a:prstGeom>
          <a:ln w="3810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1371600"/>
            <a:ext cx="1691640" cy="5029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00">
                <a:solidFill>
                  <a:srgbClr val="232A34"/>
                </a:solidFill>
                <a:latin typeface="Aptos"/>
              </a:defRPr>
            </a:pPr>
            <a:r>
              <a:t>TLS / in transit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46036" y="1389448"/>
            <a:ext cx="1965960" cy="50292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00">
                <a:solidFill>
                  <a:srgbClr val="232A34"/>
                </a:solidFill>
                <a:latin typeface="Aptos"/>
              </a:defRPr>
            </a:pPr>
            <a:r>
              <a:rPr dirty="0"/>
              <a:t>At-rest encryption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94760"/>
            <a:ext cx="5120640" cy="13258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TLS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Protects traffic while data moves between application and MongoDB, and can also protect replica-set member communication.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94760"/>
            <a:ext cx="5074920" cy="13258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WiredTiger encryption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Protects persisted MongoDB storage so a person who obtains the underlying storage cannot simply read database contents.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What problem does encryption at rest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The threat model is unauthorized access to persisted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2860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MONGODB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Normal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005840"/>
          </a:xfrm>
          <a:prstGeom prst="rect">
            <a:avLst/>
          </a:prstGeom>
          <a:solidFill>
            <a:srgbClr val="32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063240" y="2331720"/>
            <a:ext cx="731520" cy="0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40480" y="1828800"/>
            <a:ext cx="2377440" cy="100584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ENCRYPTION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Protect at persistence boundary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828800"/>
            <a:ext cx="64008" cy="100584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6309360" y="2331720"/>
            <a:ext cx="731520" cy="0"/>
          </a:xfrm>
          <a:prstGeom prst="line">
            <a:avLst/>
          </a:prstGeom>
          <a:ln w="31750">
            <a:solidFill>
              <a:srgbClr val="66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86600" y="1828800"/>
            <a:ext cx="24688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STORAGE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Encrypted data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828800"/>
            <a:ext cx="64008" cy="100584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9646920" y="2331720"/>
            <a:ext cx="731520" cy="0"/>
          </a:xfrm>
          <a:prstGeom prst="line">
            <a:avLst/>
          </a:prstGeom>
          <a:ln w="31750">
            <a:solidFill>
              <a:srgbClr val="B4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78440" y="1737360"/>
            <a:ext cx="1097280" cy="11887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950">
                <a:solidFill>
                  <a:srgbClr val="232A34"/>
                </a:solidFill>
                <a:latin typeface="Aptos"/>
              </a:defRPr>
            </a:pPr>
            <a:r>
              <a:t>Stolen / exposed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03320"/>
            <a:ext cx="3383280" cy="141732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Helps with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• Lost or stolen disks</a:t>
            </a:r>
            <a:br/>
            <a:r>
              <a:t>• Unauthorized storage access</a:t>
            </a:r>
            <a:br/>
            <a:r>
              <a:t>• Exposed snapshots</a:t>
            </a:r>
            <a:br/>
            <a:r>
              <a:t>• Decommissioned media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03320"/>
            <a:ext cx="3383280" cy="14173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Does not solve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• Compromised application credentials</a:t>
            </a:r>
            <a:br/>
            <a:r>
              <a:t>• Excessive MongoDB privileges</a:t>
            </a:r>
            <a:br/>
            <a:r>
              <a:t>• Malicious authorized queries</a:t>
            </a:r>
            <a:br/>
            <a:r>
              <a:t>• Weak OS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703320"/>
            <a:ext cx="3291840" cy="141732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Security lesson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At-rest encryption is one layer in a defense-in-depth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WIREDTIGER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WiredTiger persistence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Where encryption fits into the database storage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MongoDB operation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insert / update / index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1234440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743200" y="2496312"/>
            <a:ext cx="45720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79" y="1874519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WiredTiger cache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working set + dirty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79" y="1874519"/>
            <a:ext cx="64008" cy="1234440"/>
          </a:xfrm>
          <a:prstGeom prst="rect">
            <a:avLst/>
          </a:prstGeom>
          <a:solidFill>
            <a:srgbClr val="32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5074920" y="2496312"/>
            <a:ext cx="45720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1874519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Persistence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journal + checkpoints / data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874519"/>
            <a:ext cx="64008" cy="1234440"/>
          </a:xfrm>
          <a:prstGeom prst="rect">
            <a:avLst/>
          </a:prstGeom>
          <a:solidFill>
            <a:srgbClr val="CC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496312"/>
            <a:ext cx="45720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0" y="1874519"/>
            <a:ext cx="2057400" cy="123444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Encryption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cryptographic transformation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874519"/>
            <a:ext cx="64008" cy="123444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9738360" y="2496312"/>
            <a:ext cx="45720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21240" y="1874519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Disk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encrypted persisted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874519"/>
            <a:ext cx="64008" cy="123444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3886200"/>
            <a:ext cx="10241280" cy="11430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Important nuance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Encryption at rest is integrated with persistence. It is not a post-processing script that periodically encrypts already-written database files.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WIREDTIGER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Write path: from document to encrypted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conceptual lifecycle for an insert/update.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508760"/>
            <a:ext cx="438912" cy="438912"/>
          </a:xfrm>
          <a:prstGeom prst="ellipse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472184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Application sends 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481328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db.orders.insertOne({...})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221991"/>
            <a:ext cx="438912" cy="438912"/>
          </a:xfrm>
          <a:prstGeom prst="ellipse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185415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MongoDB processes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Validation, authorization, query/write path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935224"/>
            <a:ext cx="438912" cy="438912"/>
          </a:xfrm>
          <a:prstGeom prst="ellipse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2898648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WiredTiger updates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07792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Page becomes dirty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648456"/>
            <a:ext cx="438912" cy="438912"/>
          </a:xfrm>
          <a:prstGeom prst="ellipse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611879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Durability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621024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Journal and/or checkpoint persistence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361688"/>
            <a:ext cx="438912" cy="438912"/>
          </a:xfrm>
          <a:prstGeom prst="ellipse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325112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Encryption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334255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Persisted page/storage content is encrypted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074920"/>
            <a:ext cx="438912" cy="438912"/>
          </a:xfrm>
          <a:prstGeom prst="ellipse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5038344"/>
            <a:ext cx="29260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50">
                <a:solidFill>
                  <a:srgbClr val="232A34"/>
                </a:solidFill>
                <a:latin typeface="Aptos"/>
              </a:defRPr>
            </a:pPr>
            <a:r>
              <a:t>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47488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Encrypted bytes are stored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WIREDTIGER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Read path: encrypted storage back into the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Decryption is associated with reading encrypted persisted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011680" cy="105156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DISK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Encrypted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64008" cy="105156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788920" y="2487168"/>
            <a:ext cx="640080" cy="0"/>
          </a:xfrm>
          <a:prstGeom prst="line">
            <a:avLst/>
          </a:prstGeom>
          <a:ln w="31750">
            <a:solidFill>
              <a:srgbClr val="66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965960"/>
            <a:ext cx="2011680" cy="105156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DECRYPT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Cryptographic operation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965960"/>
            <a:ext cx="64008" cy="1051560"/>
          </a:xfrm>
          <a:prstGeom prst="rect">
            <a:avLst/>
          </a:prstGeom>
          <a:solidFill>
            <a:srgbClr val="CC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5577840" y="2487168"/>
            <a:ext cx="640080" cy="0"/>
          </a:xfrm>
          <a:prstGeom prst="line">
            <a:avLst/>
          </a:prstGeom>
          <a:ln w="3175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63640" y="196596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CACHE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Usable page in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64008" cy="1051560"/>
          </a:xfrm>
          <a:prstGeom prst="rect">
            <a:avLst/>
          </a:prstGeom>
          <a:solidFill>
            <a:srgbClr val="32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366760" y="2487168"/>
            <a:ext cx="640080" cy="0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52560" y="1965960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QUERY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Index/data processing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965960"/>
            <a:ext cx="64008" cy="1051560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3886200"/>
            <a:ext cx="10149840" cy="11887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Cache-hit nuance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If the required page is already in the WiredTiger cache, the query may not need a new encrypted disk read. This is why cache hit rate strongly influences the observed performance impact.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The encryption key is the real security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Strong encryption is useful only if the keys are properly protected.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DATA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Plaintext database information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395728"/>
            <a:ext cx="68580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0" y="1828800"/>
            <a:ext cx="2468880" cy="11430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ENCRYPTION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Cryptographic transformation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66560" y="2395728"/>
            <a:ext cx="685800" cy="0"/>
          </a:xfrm>
          <a:prstGeom prst="line">
            <a:avLst/>
          </a:prstGeom>
          <a:ln w="31750">
            <a:solidFill>
              <a:srgbClr val="66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28800"/>
            <a:ext cx="2468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ENCRYPTED DATA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Ciphertext on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20440"/>
            <a:ext cx="1828800" cy="82296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1100">
                <a:solidFill>
                  <a:srgbClr val="232A34"/>
                </a:solidFill>
                <a:latin typeface="Aptos"/>
              </a:defRPr>
            </a:pPr>
            <a:r>
              <a:t>ENCRYPTION KEY</a:t>
            </a:r>
            <a:br/>
            <a:r>
              <a:t>Secret key material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349240" y="3017520"/>
            <a:ext cx="0" cy="475488"/>
          </a:xfrm>
          <a:prstGeom prst="line">
            <a:avLst/>
          </a:prstGeom>
          <a:ln w="2540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43800" y="3337560"/>
            <a:ext cx="3566160" cy="14173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Security implication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If an attacker gets encrypted files but not the necessary keys, the storage is far harder to exploit. If key material is exposed, encryption protection can be defeated.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Key hierarchy: master key → data encryption key →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conceptual model for enterprise key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749039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1 • MASTER KEY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Master / key-encryption key</a:t>
            </a:r>
            <a:br/>
            <a:r>
              <a:t>Managed under strong key controls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2377440"/>
            <a:ext cx="0" cy="365760"/>
          </a:xfrm>
          <a:prstGeom prst="line">
            <a:avLst/>
          </a:prstGeom>
          <a:ln w="3175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60520" y="2788920"/>
            <a:ext cx="3749039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2 • DATA KEY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Data encryption key / protected key material</a:t>
            </a:r>
            <a:br/>
            <a:r>
              <a:t>Used by the database encryption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3749039"/>
            <a:ext cx="0" cy="365761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4160520"/>
            <a:ext cx="3749039" cy="9144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3 • PROTECTED STORAGE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WiredTiger persisted data</a:t>
            </a:r>
            <a:br/>
            <a:r>
              <a:t>Collections • indexes • journal /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74519"/>
            <a:ext cx="2743200" cy="210312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Why hierarchy?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It separates long-lived key custody from the database's day-to-day storage encryption operations and makes key lifecycle management more practical.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2743200" cy="21031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Do not confuse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master key is not the same thing as a MongoDB user password. Authentication credentials and encryption keys have different purposes.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External KMS / HSM: separating key custody from database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Enterprise deployments often place critical key management outside the MongoDB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108960" cy="18288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KMS / HSM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Master keys</a:t>
            </a:r>
            <a:br/>
            <a:r>
              <a:t>Key policies</a:t>
            </a:r>
            <a:br/>
            <a:r>
              <a:t>Access controls</a:t>
            </a:r>
            <a:br/>
            <a:r>
              <a:t>Audit / lifecycle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743200"/>
            <a:ext cx="777241" cy="0"/>
          </a:xfrm>
          <a:prstGeom prst="line">
            <a:avLst/>
          </a:prstGeom>
          <a:ln w="3810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1828800"/>
            <a:ext cx="3108960" cy="18288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MONGODB / MONGOD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Secure key access</a:t>
            </a:r>
            <a:br/>
            <a:r>
              <a:t>Authentication to KMS</a:t>
            </a:r>
            <a:br/>
            <a:r>
              <a:t>Key material / operations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79" y="2743200"/>
            <a:ext cx="777241" cy="0"/>
          </a:xfrm>
          <a:prstGeom prst="line">
            <a:avLst/>
          </a:prstGeom>
          <a:ln w="381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52560" y="1828800"/>
            <a:ext cx="2468880" cy="18288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STORAGE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WiredTiger</a:t>
            </a:r>
            <a:br/>
            <a:r>
              <a:t>Encrypted persistence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51960"/>
            <a:ext cx="9966960" cy="105156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Operational dependency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If MongoDB cannot access required key material, encrypted storage may not be usable. Therefore KMS availability, credentials, certificates and network reachability become part of the database availability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Local key management vs external KMS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The trade-off is not simply convenience; it is about security boundaries and operations.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29541"/>
              </p:ext>
            </p:extLst>
          </p:nvPr>
        </p:nvGraphicFramePr>
        <p:xfrm>
          <a:off x="685800" y="1600200"/>
          <a:ext cx="10789920" cy="4690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42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Dimension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Local key material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External KMS / HSM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239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Key custody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Closer to database 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Separate security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836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Operational simplicity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Usually simpler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More components and dependencies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836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Separation of duties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Weaker if same admins manage DB +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Stronger organizational separation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239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 dirty="0"/>
                        <a:t>Audit / policy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Depends on OS controls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Centralized key policy/audit capabilities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239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DR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Key must be securely recoverable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KMS/key recovery becomes 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246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Availability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Fewer external dependencies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 dirty="0"/>
                        <a:t>Requires resilient KMS access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What happens when an encrypted MongoDB server starts?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conceptual startup sequence for an encrypted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mongod starts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Read configuration and encryption settings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64008" cy="1417320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Establish key access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Authenticate/connect to key-management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64008" cy="1417320"/>
          </a:xfrm>
          <a:prstGeom prst="rect">
            <a:avLst/>
          </a:prstGeom>
          <a:solidFill>
            <a:srgbClr val="32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80" y="16002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Access required key material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Make encryption layer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00200"/>
            <a:ext cx="64008" cy="1417320"/>
          </a:xfrm>
          <a:prstGeom prst="rect">
            <a:avLst/>
          </a:prstGeom>
          <a:solidFill>
            <a:srgbClr val="CC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Initialize WiredTiger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Open encrypted storage structures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57600"/>
            <a:ext cx="64008" cy="141732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Recover / validate storage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Journal/checkpoint recovery as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657600"/>
            <a:ext cx="64008" cy="1417320"/>
          </a:xfrm>
          <a:prstGeom prst="rect">
            <a:avLst/>
          </a:prstGeom>
          <a:solidFill>
            <a:srgbClr val="B4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80" y="36576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491AA"/>
                </a:solidFill>
                <a:latin typeface="Aptos"/>
              </a:defRPr>
            </a:pPr>
            <a:r>
              <a:t>Accept traffic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MongoDB is ready for application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3657600"/>
            <a:ext cx="64008" cy="1417320"/>
          </a:xfrm>
          <a:prstGeom prst="rect">
            <a:avLst/>
          </a:prstGeom>
          <a:solidFill>
            <a:srgbClr val="24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3886200" y="2304288"/>
            <a:ext cx="429768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80960" y="2304288"/>
            <a:ext cx="41148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86200" y="4361688"/>
            <a:ext cx="429768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4361688"/>
            <a:ext cx="41148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KEY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Key rotation: what it means operationally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Key rotation is a lifecycle operation—not simply replacing a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017520" cy="10058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BEFORE ROTATION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Old key / key version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2103120"/>
            <a:ext cx="685800" cy="0"/>
          </a:xfrm>
          <a:prstGeom prst="line">
            <a:avLst/>
          </a:prstGeom>
          <a:ln w="3175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1600200"/>
            <a:ext cx="3017520" cy="10058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ROTATION EVENT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New key / key version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18120" y="2103120"/>
            <a:ext cx="68580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95360" y="1600200"/>
            <a:ext cx="2743200" cy="10058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AFTER ROTATION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Updated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4937760" cy="141732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Why rotate?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Reduce long-term exposure, meet organizational policy, respond to incidents, and manage key lifecycle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46120"/>
            <a:ext cx="4892040" cy="14173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Critical rule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Do not delete or lose an old key merely because a newer key exists. Historical encrypted data and backups may still depend on previous key versions.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Does encryption at rest slow queries?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Yes, it can add overhead—but the effect is workload- and hardware-dependent.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00400" cy="114300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CACHE HIT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Query served from cache</a:t>
            </a:r>
            <a:br/>
            <a:r>
              <a:t>Often little/no additional disk decryption work for that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37360"/>
            <a:ext cx="3200400" cy="11430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CACHE MISS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Page must be read from encrypted storage</a:t>
            </a:r>
            <a:br/>
            <a:r>
              <a:t>Read + decrypt +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200400" cy="11430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WRITE PATH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Write persistence</a:t>
            </a:r>
            <a:br/>
            <a:r>
              <a:t>Encrypt persisted pages / storage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0332720" cy="12344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The right mental model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Do not assume every query performs a fresh decrypt. The observable impact depends on how often encrypted storage is accessed, CPU capacity, cache hit rate, I/O latency, concurrency and workload shape.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Where the overhead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Break the latency into understandable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QUERY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Logical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64008" cy="1097280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514600" y="2377440"/>
            <a:ext cx="41148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82880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CACHE CHECK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Hit or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828800"/>
            <a:ext cx="64008" cy="1097280"/>
          </a:xfrm>
          <a:prstGeom prst="rect">
            <a:avLst/>
          </a:prstGeom>
          <a:solidFill>
            <a:srgbClr val="32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4892040" y="2377440"/>
            <a:ext cx="41148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9240" y="182880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DISK I/O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Only if page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828800"/>
            <a:ext cx="64008" cy="1097280"/>
          </a:xfrm>
          <a:prstGeom prst="rect">
            <a:avLst/>
          </a:prstGeom>
          <a:solidFill>
            <a:srgbClr val="CC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269480" y="2377440"/>
            <a:ext cx="41148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26679" y="1828800"/>
            <a:ext cx="1828800" cy="10972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DECRYPT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Crypto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828800"/>
            <a:ext cx="64008" cy="1097280"/>
          </a:xfrm>
          <a:prstGeom prst="rect">
            <a:avLst/>
          </a:prstGeom>
          <a:solidFill>
            <a:srgbClr val="6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9646920" y="2377440"/>
            <a:ext cx="41148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04120" y="1828800"/>
            <a:ext cx="1508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PROCESS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Query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828800"/>
            <a:ext cx="64008" cy="1097280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2960" y="3703320"/>
            <a:ext cx="3200400" cy="12344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CPU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Cryptographic operations consume CPU. Modern hardware acceleration can reduce the relative cost.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03320"/>
            <a:ext cx="3200400" cy="12344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I/O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Fast storage can expose CPU/crypto overhead more clearly because the disk itself is less of a bottleneck.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03320"/>
            <a:ext cx="3200400" cy="12344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Cache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 high cache hit rate reduces how often encrypted pages need to be fetched from storage.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Which workloads are most likely to notice the overhead?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Use this as a qualitative starting point—not as a fixed benchmark percentage.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Workload / condition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Likely visibility of overhead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Small read workload; working set fits cache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Few encrypted storage reads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Read-heavy; high cache hit rate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Most pages served from memory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Read-heavy; frequent disk reads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More decrypt + storage activity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Write-heavy workload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More noticeable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More persisted data / crypto work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Large working set &gt; 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More noticeable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Higher cache-miss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CPU-constrained server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More noticeable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Crypto competes for CPU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Fast NVMe / high IOPS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Can become more visible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Storage bottleneck is reduced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Highly concurrent workload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Workload dependent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CPU/I/O contention can amplify latency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Why WiredTiger cache hit rate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Encryption overhead is strongly connected to whether MongoDB needs storage I/O.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108960" cy="10058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SCENARIO A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1,000 reads</a:t>
            </a:r>
            <a:br/>
            <a:r>
              <a:t>990 cache hits</a:t>
            </a:r>
            <a:br/>
            <a:r>
              <a:t>10 disk reads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108960" cy="10058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SCENARIO B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1,000 reads</a:t>
            </a:r>
            <a:br/>
            <a:r>
              <a:t>500 cache hits</a:t>
            </a:r>
            <a:br/>
            <a:r>
              <a:t>500 disk 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737360"/>
            <a:ext cx="3108960" cy="100584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IMPLICATION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More disk reads</a:t>
            </a:r>
            <a:br/>
            <a:r>
              <a:t>→ more encrypted-page reads</a:t>
            </a:r>
            <a:br/>
            <a:r>
              <a:t>→ more decrypt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10424160" cy="13258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DBA connection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When investigating performance, correlate query latency with WiredTiger cache behavior, disk latency/IOPS and CPU—not just the fact that encryption is enabled.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Encryption does not replace query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At-rest encryption is not a substitute for indexes, good query shapes or adequate cache.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68580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200">
                <a:solidFill>
                  <a:srgbClr val="E8EEF5"/>
                </a:solidFill>
                <a:latin typeface="Consolas"/>
              </a:defRPr>
            </a:pPr>
            <a:r>
              <a:t>db.customers.find({ customerId: 1001 }).explain("executionStats")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606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to inspect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queryPlanner / winningPlan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Is MongoDB using the expected index?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IXSCAN / COLLSCAN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Is the access path efficient?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keysExamined / docsExamined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Is the query examining too much data?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executionTimeMillis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What is the observed execution time?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CPU / disk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Is the bottleneck compute or storage?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Cache behavior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Are pages already in memory?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5715000"/>
            <a:ext cx="10424160" cy="50292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Principle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If encryption is blamed for a slow query, first prove where the time is being spent.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vs encryption at rest vs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Three controls with different jobs.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0200"/>
          <a:ext cx="107899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Protects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concern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Typical failure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Network traffic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Data in transit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Certificate / trust / protocol issue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Encryption at rest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Persisted storage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Data on disk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Key access / storage compromise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Identity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Who is connecting?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Invalid / compromised credentials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Authorization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Permissions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What can the user do?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Excessive privileges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800600"/>
            <a:ext cx="10424160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Defense in depth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 secure MongoDB deployment normally combines these controls rather than expecting one mechanism to solve every threat.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BACKUP &amp;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Backup, snapshots and encryption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An encrypted database backup is only useful if the key lifecycle is also recoverable.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377440" cy="100584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SOURCE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Production MongoDB</a:t>
            </a:r>
            <a:br/>
            <a:r>
              <a:t>Encrypted at rest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46120" y="2148840"/>
            <a:ext cx="640080" cy="0"/>
          </a:xfrm>
          <a:prstGeom prst="line">
            <a:avLst/>
          </a:prstGeom>
          <a:ln w="31750">
            <a:solidFill>
              <a:srgbClr val="66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1645920"/>
            <a:ext cx="2377440" cy="10058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BACKUP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Backup / snapshot</a:t>
            </a:r>
            <a:br/>
            <a:r>
              <a:t>Protected storage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148840"/>
            <a:ext cx="64008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1645920"/>
            <a:ext cx="2377440" cy="10058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RESTORE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Restore host</a:t>
            </a:r>
            <a:br/>
            <a:r>
              <a:t>MongoDB + config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38360" y="2148840"/>
            <a:ext cx="640080" cy="0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424160" y="1645920"/>
            <a:ext cx="1097280" cy="10058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defRPr sz="900">
                <a:solidFill>
                  <a:srgbClr val="232A34"/>
                </a:solidFill>
                <a:latin typeface="Aptos"/>
              </a:defRPr>
            </a:pPr>
            <a:r>
              <a:t>DATA</a:t>
            </a:r>
            <a:br/>
            <a:r>
              <a:t>USABLE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37560"/>
            <a:ext cx="4937760" cy="14173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Key dependency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restore environment must have the appropriate access to the key material / KMS configuration needed to open encrypted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337560"/>
            <a:ext cx="4937760" cy="141732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Snapshot caution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Storage snapshots, copied files and backup repositories become separate security assets. Their encryption and access controls must be part of the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BACKUP &amp;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Disaster recovery: database + keys +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RTO/RPO planning must include the key-management dependency.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2926080" cy="10972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1 • DATA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Database backup / snapshot</a:t>
            </a:r>
            <a:br/>
            <a:r>
              <a:t>RPO = how much data can be lost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45920"/>
            <a:ext cx="2926080" cy="109728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2 • KEYS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KMS / key availability</a:t>
            </a:r>
            <a:br/>
            <a:r>
              <a:t>Key versions +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645920"/>
            <a:ext cx="2926080" cy="109728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3 • RECOVERY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Restore automation</a:t>
            </a:r>
            <a:br/>
            <a:r>
              <a:t>RTO = how quickly service returns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194560"/>
            <a:ext cx="82296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35240" y="2194560"/>
            <a:ext cx="82296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474720"/>
            <a:ext cx="10378440" cy="13716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DR test scenario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Build a restore test that validates: backup integrity → key/KMS access → MongoDB startup → WiredTiger recovery → application connectivity → query correctness.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WIREDTIGER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Journaling, checkpoints and encryption at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Encryption protects persisted storage across the durability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1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Write</a:t>
            </a:r>
            <a:br/>
            <a:r>
              <a:t>Dirty page in cache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057400"/>
            <a:ext cx="54864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1600200"/>
            <a:ext cx="2377440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2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Journal</a:t>
            </a:r>
            <a:br/>
            <a:r>
              <a:t>Durability record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2057400"/>
            <a:ext cx="54864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66560" y="1600200"/>
            <a:ext cx="2377440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3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Checkpoint</a:t>
            </a:r>
            <a:br/>
            <a:r>
              <a:t>Consistent persisted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0" y="2057400"/>
            <a:ext cx="548640" cy="0"/>
          </a:xfrm>
          <a:prstGeom prst="line">
            <a:avLst/>
          </a:prstGeom>
          <a:ln w="25400">
            <a:solidFill>
              <a:srgbClr val="505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600200"/>
            <a:ext cx="1645920" cy="9144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4</a:t>
            </a:r>
          </a:p>
          <a:p>
            <a:pPr>
              <a:defRPr sz="1000">
                <a:solidFill>
                  <a:srgbClr val="232A34"/>
                </a:solidFill>
                <a:latin typeface="Aptos"/>
              </a:defRPr>
            </a:pPr>
            <a:r>
              <a:t>Encrypt</a:t>
            </a:r>
            <a:br/>
            <a:r>
              <a:t>→ disk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4892040" cy="141732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Journal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journal is part of the durability mechanism. Persisted journal information should be considered within the at-rest protection boundary.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46120"/>
            <a:ext cx="4892040" cy="14173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Checkpoint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Checkpoints make a consistent storage state durable. Encryption integrates with persistence rather than changing the logical query semantics.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Encryption at rest is not field-level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Storage encryption and client-side/field-level protection address different trust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4754880" cy="20116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WIREDTIGER ENCRYPTION AT REST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MongoDB sees the document in usable form while operating.</a:t>
            </a:r>
            <a:br/>
            <a:br/>
            <a:r>
              <a:t>Protection target: persisted database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4754880" cy="20116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FIELD-LEVEL / CLIENT-SIDE ENCRYPTION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Specific sensitive fields can be protected with a different encryption model.</a:t>
            </a:r>
            <a:br/>
            <a:br/>
            <a:r>
              <a:t>Protection target: selected data fields / application trust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332720" cy="11430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Key distinction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If the requirement is “protect the database if the disk is stolen,” think encryption at rest. If the requirement is “reduce plaintext visibility even to database infrastructure,” investigate field-level/client-side encryption.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What encryption at rest does NOT protect you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Threat-model boundaries prevent incorrect security assumptions.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13716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Compromised application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An attacker using legitimate database credentials may still issue queries and receive decrypted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13716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Excessive privileges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 user with broad read access can access data that storage encryption does not hide from MongoDB itself.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00200"/>
            <a:ext cx="3383280" cy="13716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Compromised host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At-rest encryption is not a complete endpoint security control for a fully compromised running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9966960" cy="114300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SECURITY STACK</a:t>
            </a:r>
          </a:p>
          <a:p>
            <a:pPr>
              <a:defRPr sz="1500">
                <a:solidFill>
                  <a:srgbClr val="232A34"/>
                </a:solidFill>
                <a:latin typeface="Aptos"/>
              </a:defRPr>
            </a:pPr>
            <a:r>
              <a:t>Defense in depth: authentication + authorization + TLS + encryption at rest + OS hardening + monitoring + secure backups + key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DBA key-management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Questions to answer before enabling encryption in production.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107899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 to answer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Key custody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Where are keys stored? Who controls them?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Access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Which MongoDB hosts/services can access key material?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KMS availability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What happens if the KMS is unavailable?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What is the rotation policy and process?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How are old key versions preserved for restore?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Backup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Are backups/snapshots protected and recoverable?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Has restore with encryption keys actually been tested?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Audit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Can key access and administrative operations be audited?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Separation of duties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Are DB and key administrators appropriately separated?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Incident response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What happens if a key is suspected compromised?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Reference production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layered MongoDB security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057400" cy="10515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CLIENT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Application</a:t>
            </a:r>
            <a:br/>
            <a:r>
              <a:t>Spring Boot / services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542032"/>
            <a:ext cx="59436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37560" y="2011680"/>
            <a:ext cx="2057400" cy="10515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IN TRANSIT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TLS</a:t>
            </a:r>
            <a:br/>
            <a:r>
              <a:t>Encrypted network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2542032"/>
            <a:ext cx="59436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201168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DATABASE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MongoDB</a:t>
            </a:r>
            <a:br/>
            <a:r>
              <a:t>mongod + WiredTiger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75320" y="2542032"/>
            <a:ext cx="594360" cy="0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15400" y="2011680"/>
            <a:ext cx="2057400" cy="105156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AT REST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Encrypted</a:t>
            </a:r>
            <a:br/>
            <a:r>
              <a:t>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931920"/>
            <a:ext cx="1828800" cy="96012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KEY MANAGEMENT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KMS / HSM</a:t>
            </a:r>
            <a:br/>
            <a:r>
              <a:t>Key custody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50608" y="3127248"/>
            <a:ext cx="0" cy="758952"/>
          </a:xfrm>
          <a:prstGeom prst="line">
            <a:avLst/>
          </a:prstGeom>
          <a:ln w="3175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3931920"/>
            <a:ext cx="1828800" cy="96012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DR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Backups</a:t>
            </a:r>
            <a:br/>
            <a:r>
              <a:t>Snapshots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829800" y="3127248"/>
            <a:ext cx="0" cy="758952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5303520"/>
            <a:ext cx="10241280" cy="5943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Security objective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Protect data while moving, protect data while stored, control who can access it, and ensure keys + backups remain recoverable.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Failure scenarios every DBA should rehearse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Encryption introduces operational dependencies that must be tested.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140707"/>
              </p:ext>
            </p:extLst>
          </p:nvPr>
        </p:nvGraphicFramePr>
        <p:xfrm>
          <a:off x="502920" y="141732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Failure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Potential impact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Preparedness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KMS unavailable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Startup/access to encrypted storage may be affected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HA KMS, tested connectivity, documented dependency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Key version unavailable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Encrypted data may become inaccessible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Retain required key versions; test restore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Certificate / trust issue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Secure connection may fail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Certificate rotation + trust-store procedure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 dirty="0"/>
                        <a:t>Backup without key access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Restore may fail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Pair backup validation with key recovery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Expired credentials to KMS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MongoDB cannot obtain required key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Credential rotation + 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Stolen snapshot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Data exposure risk if snapshot is unprotected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79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 dirty="0"/>
                        <a:t>Encrypt backup/snapshot repository and restrict access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The concepts to retain from the entire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246120" cy="10972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1 • AT REST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Protects persisted MongoDB storage</a:t>
            </a:r>
            <a:br/>
            <a:r>
              <a:t>—not network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246120" cy="109728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2 • KEYS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Keys are a critical security boundary.</a:t>
            </a:r>
            <a:br/>
            <a:r>
              <a:t>Custody and recovery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3246120" cy="10972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3 • PERFORMANCE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Performance impact depends on cache, I/O, CPU and workload.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TLS protects data in transit; WiredTiger encryption protects persisted storage.</a:t>
            </a:r>
          </a:p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Encryption at rest can add CPU/storage overhead, but query impact is workload dependent.</a:t>
            </a:r>
          </a:p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High cache hit rates can reduce the frequency of encrypted storage reads.</a:t>
            </a:r>
          </a:p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External KMS/HSM strengthens key custody but introduces an availability dependency.</a:t>
            </a:r>
          </a:p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Backups, snapshots and DR must include key lifecycle planning.</a:t>
            </a:r>
          </a:p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Encryption does not replace authentication, authorization, OS hardening or monitoring.</a:t>
            </a:r>
          </a:p>
          <a:p>
            <a:pPr>
              <a:spcAft>
                <a:spcPts val="500"/>
              </a:spcAft>
              <a:defRPr sz="1500" b="0">
                <a:solidFill>
                  <a:srgbClr val="232A34"/>
                </a:solidFill>
                <a:latin typeface="Aptos"/>
              </a:defRPr>
            </a:pPr>
            <a:r>
              <a:t>Never lose the keys required to restore encrypted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The complete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One picture to connect the entire topic.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1783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CLIENT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APPLICATION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606040"/>
            <a:ext cx="50292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2148840"/>
            <a:ext cx="1783080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IN TRANSIT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TLS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2040" y="2606040"/>
            <a:ext cx="50292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0680" y="21488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QUERY ENGINE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MONGODB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60920" y="2606040"/>
            <a:ext cx="502920" cy="0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214884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STORAGE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WIREDTIGER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29800" y="2606040"/>
            <a:ext cx="502920" cy="0"/>
          </a:xfrm>
          <a:prstGeom prst="line">
            <a:avLst/>
          </a:prstGeom>
          <a:ln w="31750">
            <a:solidFill>
              <a:srgbClr val="66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378440" y="2148840"/>
            <a:ext cx="1234440" cy="9144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ENCRYPTED</a:t>
            </a:r>
          </a:p>
          <a:p>
            <a:pPr>
              <a:defRPr sz="950">
                <a:solidFill>
                  <a:srgbClr val="232A34"/>
                </a:solidFill>
                <a:latin typeface="Aptos"/>
              </a:defRPr>
            </a:pPr>
            <a:r>
              <a:t>DISK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2194560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KEYS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KMS / HSM</a:t>
            </a:r>
            <a:br/>
            <a:r>
              <a:t>Key custody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98079" y="3154680"/>
            <a:ext cx="0" cy="685800"/>
          </a:xfrm>
          <a:prstGeom prst="line">
            <a:avLst/>
          </a:prstGeom>
          <a:ln w="3175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3886200"/>
            <a:ext cx="2194560" cy="91440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RECOVERY</a:t>
            </a:r>
          </a:p>
          <a:p>
            <a:pPr>
              <a:defRPr sz="1100">
                <a:solidFill>
                  <a:srgbClr val="232A34"/>
                </a:solidFill>
                <a:latin typeface="Aptos"/>
              </a:defRPr>
            </a:pPr>
            <a:r>
              <a:t>BACKUP / DR</a:t>
            </a:r>
            <a:br/>
            <a:r>
              <a:t>Data + key access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9921240" y="3154680"/>
            <a:ext cx="0" cy="685800"/>
          </a:xfrm>
          <a:prstGeom prst="line">
            <a:avLst/>
          </a:prstGeom>
          <a:ln w="3175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5303520"/>
            <a:ext cx="10561320" cy="5943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82296" rIns="109728" bIns="73152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Remember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Secure network + secure storage + protected keys + recoverable backups = a complete encryption-at-rest operating model.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at Rest &amp; Key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Encryption in transit: TLS/SSL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TLS protects MongoDB communication while data is moving across the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APPLICATION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Queries • credentials • results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514600"/>
            <a:ext cx="685799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94760" y="1965960"/>
            <a:ext cx="2286000" cy="10972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TLS SESSION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Encrypted + integrity protected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2514600"/>
            <a:ext cx="685800" cy="0"/>
          </a:xfrm>
          <a:prstGeom prst="line">
            <a:avLst/>
          </a:prstGeom>
          <a:ln w="3175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196596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491AA"/>
                </a:solidFill>
                <a:latin typeface="Aptos"/>
              </a:defRPr>
            </a:pPr>
            <a:r>
              <a:t>NETWORK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Packets are protected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600" y="2514600"/>
            <a:ext cx="685800" cy="0"/>
          </a:xfrm>
          <a:prstGeom prst="line">
            <a:avLst/>
          </a:prstGeom>
          <a:ln w="31750">
            <a:solidFill>
              <a:srgbClr val="2491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04120" y="1965960"/>
            <a:ext cx="1417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MONGODB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mongod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3246120" cy="12344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Confidentiality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Network observers should not be able to read the protected MongoDB payload.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794760"/>
            <a:ext cx="3246120" cy="12344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Integrity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TLS helps detect tampering with protected traffic.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794760"/>
            <a:ext cx="3246120" cy="12344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Authentication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Certificates can establish server identity; mTLS can authenticate both sides.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vs SSL terminology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MongoDB configuration uses TLS terminology; SSL is the historical term.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SSL was the earlier family of protocols; modern secure deployments use TLS.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TLS versions have evolved over time; legacy SSL and obsolete TLS versions should not be used.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Exact supported TLS versions depend on MongoDB release, operating system and cryptographic library.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TLS 1.2 and TLS 1.3 are the modern protocol generations to consider, subject to your platform and policy.</a:t>
            </a:r>
          </a:p>
          <a:p>
            <a:pPr>
              <a:spcAft>
                <a:spcPts val="5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Do not confuse TLS with MongoDB authentication: TLS secures the channel; authentication establishes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737360"/>
            <a:ext cx="3520440" cy="12344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Mental model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SSL is the older name people still use. In a modern MongoDB architecture, think: TLS.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246120"/>
            <a:ext cx="3520440" cy="141732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Security properties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Confidentiality + integrity + certificate-based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Certificates and the Certificate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Certificates allow a client to decide whether it can trust the MongoDB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08760"/>
            <a:ext cx="3566160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CERTIFICATE AUTHORITY (CA)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Signs and vouches for certificates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794760" y="2514600"/>
            <a:ext cx="2240280" cy="457200"/>
          </a:xfrm>
          <a:prstGeom prst="line">
            <a:avLst/>
          </a:prstGeom>
          <a:ln w="29209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2514600"/>
            <a:ext cx="2240280" cy="457200"/>
          </a:xfrm>
          <a:prstGeom prst="line">
            <a:avLst/>
          </a:prstGeom>
          <a:ln w="29209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3063240"/>
            <a:ext cx="3108960" cy="12344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MONGODB SERVER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Server certificate</a:t>
            </a:r>
            <a:br/>
            <a:r>
              <a:t>Public key + identity + CA signature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063240"/>
            <a:ext cx="3108960" cy="12344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CLIENT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Client certificate</a:t>
            </a:r>
            <a:br/>
            <a:r>
              <a:t>Used when mutual TLS is configured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287000" cy="8229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Trust chain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client trusts the CA; the CA's signature allows the client to validate certificates issued under that trust hierarchy.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What is inside a MongoDB TLS certificate?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Certificate identity and validity must match how clients connect.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698479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17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Certificate element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Subject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Identifies the certificate subject.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Issuer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Identifies the CA that signed the certificate.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Validity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Start and expiration dates.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Public key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Used as part of the TLS cryptographic protocol.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Subject Alternative Name (SAN)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Names/IPs for endpoint identity validation.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4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Digital signature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Allows the certificate chain to be verified.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669280"/>
            <a:ext cx="10241280" cy="5486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Operational rule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SANs should contain the hostnames/IPs clients actually use, according to your certificate policy.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Server certificate vs private key vs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Three pieces of TLS material have different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246120" cy="13716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SERVER CERTIFICATE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Identifies MongoDB and contains its public key.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13716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PRIVATE KEY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Secret cryptographic material. Must be protected with restrictive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3246120" cy="13716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CA CERTIFICATE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Trust anchor / chain used to validate certificates.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86200"/>
            <a:ext cx="10241280" cy="12344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Common PEM arrangement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MongoDB commonly uses a PEM file containing the server certificate and private key, while the CA certificate is supplied separately as trusted CA material.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handshake: simplified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The handshake establishes trust and cryptographic session parameters before MongoDB traffic is exchanged.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CLIENT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ClientHello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103120"/>
            <a:ext cx="64008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1645920"/>
            <a:ext cx="21945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SERVER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ServerHello + certificate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103120"/>
            <a:ext cx="640080" cy="0"/>
          </a:xfrm>
          <a:prstGeom prst="line">
            <a:avLst/>
          </a:prstGeom>
          <a:ln w="2540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66560" y="1645920"/>
            <a:ext cx="2194560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VALIDATION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CA + name + validity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98280" y="2103120"/>
            <a:ext cx="640080" cy="0"/>
          </a:xfrm>
          <a:prstGeom prst="line">
            <a:avLst/>
          </a:prstGeom>
          <a:ln w="2540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1645920"/>
            <a:ext cx="1645920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SESSION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Encrypted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37560"/>
            <a:ext cx="10241280" cy="13258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After the handshake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MongoDB application traffic travels inside the established TLS session. The cryptographic details are negotiated by TLS; applications do not manually encrypt each query.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MongoDB TLS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typical server-side configuration pattern.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6400800" cy="356616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300">
                <a:solidFill>
                  <a:srgbClr val="E8EEF5"/>
                </a:solidFill>
                <a:latin typeface="Consolas"/>
              </a:defRPr>
            </a:pPr>
            <a:r>
              <a:t>net:</a:t>
            </a:r>
            <a:br/>
            <a:r>
              <a:t>  port: 27017</a:t>
            </a:r>
            <a:br/>
            <a:r>
              <a:t>  bindIp: 0.0.0.0</a:t>
            </a:r>
            <a:br/>
            <a:br/>
            <a:r>
              <a:t>  tls:</a:t>
            </a:r>
            <a:br/>
            <a:r>
              <a:t>    mode: requireTLS</a:t>
            </a:r>
            <a:br/>
            <a:r>
              <a:t>    certificateKeyFile: /etc/mongodb/certs/server.pem</a:t>
            </a:r>
            <a:br/>
            <a:r>
              <a:t>    CAFile: /etc/mongodb/ca/ca.pem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91640"/>
            <a:ext cx="3657600" cy="109728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mode: requireTLS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Only TLS connections are accepted.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657600" cy="10972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certificateKeyFile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Server certificate + private-key material.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434840"/>
            <a:ext cx="3657600" cy="109728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CAFile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CA certificates used for trust validation as configured.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modes: migration vs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Choose the mode deliberately; allowing non-TLS connections is not equivalent to encryption enforcement.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7899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TLS connections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Non-TLS connections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Typical meaning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disabled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TLS not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allowTLS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TLS available but plaintext still accepted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preferTLS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 / preferred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TLS preferred, plaintext still accepted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requireTLS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Encryption in transit enforced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846320"/>
            <a:ext cx="10287000" cy="9144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Production principle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If your security requirement says MongoDB traffic must be encrypted, the final state should not leave a plaintext path accidentally 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Client connection with mongosh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The client must participate in the TLS configuration when the server requires TLS.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583680" cy="333756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150">
                <a:solidFill>
                  <a:srgbClr val="E8EEF5"/>
                </a:solidFill>
                <a:latin typeface="Consolas"/>
              </a:defRPr>
            </a:pPr>
            <a:r>
              <a:t>mongosh \</a:t>
            </a:r>
            <a:br/>
            <a:r>
              <a:t>  --host mongodb01 \</a:t>
            </a:r>
            <a:br/>
            <a:r>
              <a:t>  --port 27017 \</a:t>
            </a:r>
            <a:br/>
            <a:r>
              <a:t>  --tls \</a:t>
            </a:r>
            <a:br/>
            <a:r>
              <a:t>  --tlsCAFile /etc/mongodb/ca/ca.pem \</a:t>
            </a:r>
            <a:br/>
            <a:r>
              <a:t>  -u admin \</a:t>
            </a:r>
            <a:br/>
            <a:r>
              <a:t>  -p \</a:t>
            </a:r>
            <a:br/>
            <a:r>
              <a:t>  --authenticationDatabase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91640"/>
            <a:ext cx="3566160" cy="11430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--tls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Tell mongosh to establish a TLS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108960"/>
            <a:ext cx="3566160" cy="12344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--tlsCAFile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Provide CA trust material for server certificate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617720"/>
            <a:ext cx="3566160" cy="96012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Authentication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MongoDB authentication remains a separate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One-way TLS vs mutual TLS (mTLS)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Decide whether only the server or both endpoints must prove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846320" cy="21488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ONE-WAY TLS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Client validates the MongoDB server certificate.</a:t>
            </a:r>
            <a:br/>
            <a:br/>
            <a:r>
              <a:t>Typical model:</a:t>
            </a:r>
            <a:br/>
            <a:r>
              <a:t>Client → verifies server → encrypted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4846320" cy="21488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MUTUAL TLS (mTLS)</a:t>
            </a:r>
          </a:p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Client validates server + server validates client certificate.</a:t>
            </a:r>
            <a:br/>
            <a:br/>
            <a:r>
              <a:t>Typical model:</a:t>
            </a:r>
            <a:br/>
            <a:r>
              <a:t>Client ↔ mutual certificate authentication ↔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10241280" cy="109728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Why mTLS?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It provides stronger endpoint identity when certificate-based client authentication is part of the security design—for example, controlled service-to-service or member-to-member communication.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for MongoDB replica-set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secure replica set has both client-facing and member-to-member TLS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630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REPLICA SET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mongo1</a:t>
            </a:r>
            <a:br/>
            <a:r>
              <a:t>PRIMARY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7033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MEMBER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mongo2</a:t>
            </a:r>
            <a:br/>
            <a:r>
              <a:t>SECONDARY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37033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MEMBER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mongo3</a:t>
            </a:r>
            <a:br/>
            <a:r>
              <a:t>SECONDARY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291840" y="2331720"/>
            <a:ext cx="1645920" cy="1325880"/>
          </a:xfrm>
          <a:prstGeom prst="line">
            <a:avLst/>
          </a:prstGeom>
          <a:ln w="29209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78040" y="2331720"/>
            <a:ext cx="1874520" cy="1325880"/>
          </a:xfrm>
          <a:prstGeom prst="line">
            <a:avLst/>
          </a:prstGeom>
          <a:ln w="29209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2743200"/>
            <a:ext cx="2926080" cy="5943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defRPr sz="1050">
                <a:solidFill>
                  <a:srgbClr val="232A34"/>
                </a:solidFill>
                <a:latin typeface="Aptos"/>
              </a:defRPr>
            </a:pPr>
            <a:r>
              <a:t>TLS / secure member communication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80760" y="2423160"/>
            <a:ext cx="0" cy="320040"/>
          </a:xfrm>
          <a:prstGeom prst="line">
            <a:avLst/>
          </a:prstGeom>
          <a:ln w="2286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5166360"/>
            <a:ext cx="10332720" cy="64008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DBA reminder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Do not secure only application-to-MongoDB traffic and forget the internal replica-set communication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Ubuntu certificate layout and file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practical organization for a lab or controlled server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212080" cy="310896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200">
                <a:solidFill>
                  <a:srgbClr val="E8EEF5"/>
                </a:solidFill>
                <a:latin typeface="Consolas"/>
              </a:defRPr>
            </a:pPr>
            <a:r>
              <a:t>/etc/mongodb/</a:t>
            </a:r>
            <a:br/>
            <a:r>
              <a:t>├── ca/</a:t>
            </a:r>
            <a:br/>
            <a:r>
              <a:t>│   └── ca.pem</a:t>
            </a:r>
            <a:br/>
            <a:r>
              <a:t>├── certs/</a:t>
            </a:r>
            <a:br/>
            <a:r>
              <a:t>│   ├── mongo1.pem</a:t>
            </a:r>
            <a:br/>
            <a:r>
              <a:t>│   ├── mongo2.pem</a:t>
            </a:r>
            <a:br/>
            <a:r>
              <a:t>│   └── mongo3.pem</a:t>
            </a:r>
            <a:br/>
            <a:r>
              <a:t>└── mongod.conf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182880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150">
                <a:solidFill>
                  <a:srgbClr val="E8EEF5"/>
                </a:solidFill>
                <a:latin typeface="Consolas"/>
              </a:defRPr>
            </a:pPr>
            <a:r>
              <a:t>sudo chown -R mongodb:mongodb /etc/mongodb</a:t>
            </a:r>
            <a:br/>
            <a:r>
              <a:t>sudo chmod 700 /etc/mongodb</a:t>
            </a:r>
            <a:br/>
            <a:r>
              <a:t>sudo chmod 600 /etc/mongodb/certs/*.pem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03320"/>
            <a:ext cx="5212080" cy="118872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Private-key protection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exact owner/group should match the account running mongod. The key should not be readable by unrelated users.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Lab certificates with OpenSSL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For labs, OpenSSL can create a private CA and certificates. Production should follow organizational PKI.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303520" cy="283464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100">
                <a:solidFill>
                  <a:srgbClr val="E8EEF5"/>
                </a:solidFill>
                <a:latin typeface="Consolas"/>
              </a:defRPr>
            </a:pPr>
            <a:r>
              <a:t># Create a CA key</a:t>
            </a:r>
            <a:br/>
            <a:r>
              <a:t>openssl genrsa -out ca.key 4096</a:t>
            </a:r>
            <a:br/>
            <a:br/>
            <a:r>
              <a:t># Create a CA certificate</a:t>
            </a:r>
            <a:br/>
            <a:r>
              <a:t>openssl req -x509 -new -nodes \</a:t>
            </a:r>
            <a:br/>
            <a:r>
              <a:t>  -key ca.key -sha256 -days 3650 \</a:t>
            </a:r>
            <a:br/>
            <a:r>
              <a:t>  -out ca.crt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283464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100">
                <a:solidFill>
                  <a:srgbClr val="E8EEF5"/>
                </a:solidFill>
                <a:latin typeface="Consolas"/>
              </a:defRPr>
            </a:pPr>
            <a:r>
              <a:t># Server private key</a:t>
            </a:r>
            <a:br/>
            <a:r>
              <a:t>openssl genrsa -out mongo1.key 2048</a:t>
            </a:r>
            <a:br/>
            <a:br/>
            <a:r>
              <a:t># Certificate signing request</a:t>
            </a:r>
            <a:br/>
            <a:r>
              <a:t>openssl req -new \</a:t>
            </a:r>
            <a:br/>
            <a:r>
              <a:t>  -key mongo1.key \</a:t>
            </a:r>
            <a:br/>
            <a:r>
              <a:t>  -out mongo1.csr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09160"/>
            <a:ext cx="10287000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Production caveat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Certificate issuance, SAN policy, private-key protection and rotation should be handled by your organization's PKI/certificate-management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Creating the MongoDB PEM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MongoDB commonly uses a PEM containing the certificate and private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6400800" cy="219456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200">
                <a:solidFill>
                  <a:srgbClr val="E8EEF5"/>
                </a:solidFill>
                <a:latin typeface="Consolas"/>
              </a:defRPr>
            </a:pPr>
            <a:r>
              <a:t># Example lab operation</a:t>
            </a:r>
            <a:br/>
            <a:r>
              <a:t>cat mongo1.crt mongo1.key &gt; mongo1.pem</a:t>
            </a:r>
            <a:br/>
            <a:br/>
            <a:r>
              <a:t># Then configure:</a:t>
            </a:r>
            <a:br/>
            <a:r>
              <a:t>tls:</a:t>
            </a:r>
            <a:br/>
            <a:r>
              <a:t>  certificateKeyFile: /etc/mongodb/certs/mongo1.pem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91640"/>
            <a:ext cx="3657600" cy="10972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Why PEM?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PEM is a common text-based container format for certificates and private keys.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154680"/>
            <a:ext cx="3657600" cy="123444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Protect it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 PEM containing the private key is sensitive. Treat it as secret key material.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709160"/>
            <a:ext cx="3657600" cy="7772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CA is separate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CA trust file answers “which issuer do I trust?”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Testing the TLS endpoint with OpenSSL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Use OpenSSL as a diagnostic tool to inspect the TLS handshake and certificate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400800" cy="1600200"/>
          </a:xfrm>
          <a:prstGeom prst="roundRect">
            <a:avLst/>
          </a:prstGeom>
          <a:solidFill>
            <a:srgbClr val="1C222B"/>
          </a:solidFill>
          <a:ln>
            <a:solidFill>
              <a:srgbClr val="37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tlCol="0" anchor="ctr"/>
          <a:lstStyle/>
          <a:p>
            <a:pPr algn="ctr">
              <a:defRPr sz="1200">
                <a:solidFill>
                  <a:srgbClr val="E8EEF5"/>
                </a:solidFill>
                <a:latin typeface="Consolas"/>
              </a:defRPr>
            </a:pPr>
            <a:r>
              <a:t>openssl s_client \</a:t>
            </a:r>
            <a:br/>
            <a:r>
              <a:t>  -connect mongodb01:27017 \</a:t>
            </a:r>
            <a:br/>
            <a:r>
              <a:t>  -CAfile /etc/mongodb/ca/ca.pem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91640"/>
            <a:ext cx="3474720" cy="10515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Inspect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Certificate chain, protocol, cipher and verification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063240"/>
            <a:ext cx="3474720" cy="11430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Useful symptom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 failed verification often points to trust-chain, hostname, expiry or CA configuration problems.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526280"/>
            <a:ext cx="3474720" cy="96012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Remember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OpenSSL diagnostics are not the same as a full MongoDB client test.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Certificate validation: what can go wrong?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Most TLS failures are configuration or lifecycle problems rather than MongoDB query problems.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00055"/>
              </p:ext>
            </p:extLst>
          </p:nvPr>
        </p:nvGraphicFramePr>
        <p:xfrm>
          <a:off x="502920" y="1417320"/>
          <a:ext cx="11201400" cy="4537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Failure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Typical cause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DBA check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Unknown 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Client does not trust issuing 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Correct CA file / 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Hostname mismatch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SAN does not match connection hostname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Connect using a certificate-valid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Expired certificate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Certificate lifecycle missed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Check validity dates and renewal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Private-key permission denied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mongod cannot read key file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Owner/group + filesystem permissions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 dirty="0"/>
                        <a:t>Wrong PEM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Certificate/private key 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Validate certificate and key pair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TLS not enabled by client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Server requires TLS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Use TLS client options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Replica member connection fails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/>
                        <a:t>Internal TLS 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rPr sz="1600" dirty="0"/>
                        <a:t>Check all member certs, CA and 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Certificate rotation and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TLS security is not “configure once and forget”.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ISSUE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Certificate created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331720"/>
            <a:ext cx="45720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82880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DEPLOY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Install securely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40680" y="2331720"/>
            <a:ext cx="457200" cy="0"/>
          </a:xfrm>
          <a:prstGeom prst="line">
            <a:avLst/>
          </a:prstGeom>
          <a:ln w="2540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1828800"/>
            <a:ext cx="2011680" cy="10058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VALIDATE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Test TLS paths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2440" y="2331720"/>
            <a:ext cx="45720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95360" y="1828800"/>
            <a:ext cx="2011680" cy="100584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ROTATE</a:t>
            </a:r>
          </a:p>
          <a:p>
            <a:pPr>
              <a:defRPr sz="1150">
                <a:solidFill>
                  <a:srgbClr val="232A34"/>
                </a:solidFill>
                <a:latin typeface="Aptos"/>
              </a:defRPr>
            </a:pPr>
            <a:r>
              <a:t>Before expiry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44200" y="2331720"/>
            <a:ext cx="365760" cy="0"/>
          </a:xfrm>
          <a:prstGeom prst="line">
            <a:avLst/>
          </a:prstGeom>
          <a:ln w="2540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657600"/>
            <a:ext cx="10241280" cy="123444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Rotation discipline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Track certificate expiry, automate alerts, test replacement certificates, and validate both client connections and replica-set member communication before old certificates expire.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and MongoDB authentication are separate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secure channel does not automatically identify the MongoDB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971800" cy="11430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TLS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Encrypted connection</a:t>
            </a:r>
            <a:br/>
            <a:r>
              <a:t>Certificate / TLS session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2258568"/>
            <a:ext cx="640081" cy="0"/>
          </a:xfrm>
          <a:prstGeom prst="line">
            <a:avLst/>
          </a:prstGeom>
          <a:ln w="2794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34840" y="1691640"/>
            <a:ext cx="2971800" cy="114300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AUTHENTICATION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User identity</a:t>
            </a:r>
            <a:br/>
            <a:r>
              <a:t>SCRAM / X.509 / other auth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43800" y="2258568"/>
            <a:ext cx="640079" cy="0"/>
          </a:xfrm>
          <a:prstGeom prst="line">
            <a:avLst/>
          </a:prstGeom>
          <a:ln w="2794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1691640"/>
            <a:ext cx="2971800" cy="11430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AUTHORIZATION</a:t>
            </a:r>
          </a:p>
          <a:p>
            <a:pPr>
              <a:defRPr sz="1200">
                <a:solidFill>
                  <a:srgbClr val="232A34"/>
                </a:solidFill>
                <a:latin typeface="Aptos"/>
              </a:defRPr>
            </a:pPr>
            <a:r>
              <a:t>Permissions</a:t>
            </a:r>
            <a:br/>
            <a:r>
              <a:t>Roles and privileges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10241280" cy="12344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Remember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TLS answers “is the communication protected and is the endpoint trusted?” Authentication answers “who is the user?” Authorization answers “what can that identity do?”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vs encryption at rest: side-by-side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The two mechanisms protect different points in the data lifecycle.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TLS / in transit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WiredTiger encryption / at rest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Protects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Network traffic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Persisted database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Main threat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Network interception / tampering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Storage compromise / exposed media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Uses certificates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Not the primary mechanism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Uses encryption keys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Yes, for TLS session cryptography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Yes, for storage encryption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Protects query result over network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Protects database files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Protects stolen disk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Replaces authentication?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Replaces authorization?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performance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TLS can introduce CPU and connection-management overhead, but persistent connections and modern cryptography make the impact workload dependent.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83280" cy="13258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Handshake cost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The TLS handshake is more expensive than an already-established encrypted session. Connection pooling reduces repeated handshakes.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132588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Per-record crypto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Application traffic is encrypted/decrypted within the TLS session. CPU overhead depends on traffic volume and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600200"/>
            <a:ext cx="3383280" cy="132588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Network latency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TLS does not eliminate network latency. It adds protocol/crypto work around the network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10241280" cy="13258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DBA measurement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Measure application latency, CPU, throughput, connection churn and network behavior with realistic workloads. Do not use a generic percentage as a universal TLS performance penalty.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End-to-end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Combine TLS, authentication, authorization and encryption at 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600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CLIENT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APPLICATION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487168"/>
            <a:ext cx="41148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2057400"/>
            <a:ext cx="1508760" cy="8686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IN TRANSIT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TLS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2487168"/>
            <a:ext cx="41148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09160" y="2057400"/>
            <a:ext cx="1691640" cy="86868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IDENTITY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AUTH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2487168"/>
            <a:ext cx="411480" cy="0"/>
          </a:xfrm>
          <a:prstGeom prst="line">
            <a:avLst/>
          </a:prstGeom>
          <a:ln w="2540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2057400"/>
            <a:ext cx="1691640" cy="86868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ACCESS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ROLES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2487168"/>
            <a:ext cx="411480" cy="0"/>
          </a:xfrm>
          <a:prstGeom prst="line">
            <a:avLst/>
          </a:prstGeom>
          <a:ln w="25400">
            <a:solidFill>
              <a:srgbClr val="CC87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2057400"/>
            <a:ext cx="1828800" cy="8686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AT REST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WIREDTIGER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10241280" cy="11887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Complete security model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Secure the channel → establish identity → authorize actions → protect persisted storage → protect keys → protect backups.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TLS DBA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A practical checklist for implementation, operations and troubleshooting.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Checklist</a:t>
                      </a:r>
                    </a:p>
                  </a:txBody>
                  <a:tcPr>
                    <a:solidFill>
                      <a:srgbClr val="14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Certificates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Valid dates, correct SANs, correct chain, private-key permissions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Server config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TLS mode, certificateKeyFile, CAFile, supported protocol policy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Clients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TLS enabled, CA trust configured, hostname validation tested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Replica set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Member-to-member TLS tested; all certificates valid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Separate MongoDB authentication from TLS configuration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Rotation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Expiry monitoring and tested certificate replacement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Diagnostics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mongosh + OpenSSL tests documented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Performance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Measure connection churn, CPU, latency and throughput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Incident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Plan for compromised/expired certificates and key material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DA3"/>
                </a:solidFill>
                <a:latin typeface="Aptos"/>
              </a:defRPr>
            </a:pPr>
            <a:r>
              <a:t>TLS / ENCRYPTION IN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034"/>
                </a:solidFill>
                <a:latin typeface="Aptos"/>
              </a:defRPr>
            </a:pPr>
            <a:r>
              <a:t>Final combined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05E70"/>
                </a:solidFill>
                <a:latin typeface="Aptos"/>
              </a:defRPr>
            </a:pPr>
            <a:r>
              <a:t>Protect data at every stage of its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1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APPLICATION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377440"/>
            <a:ext cx="41148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920240"/>
            <a:ext cx="1691640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2 • IN TRANSIT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TLS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80" y="2377440"/>
            <a:ext cx="411480" cy="0"/>
          </a:xfrm>
          <a:prstGeom prst="line">
            <a:avLst/>
          </a:prstGeom>
          <a:ln w="25400">
            <a:solidFill>
              <a:srgbClr val="2A5D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19202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3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MONGODB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6560" y="2377440"/>
            <a:ext cx="411480" cy="0"/>
          </a:xfrm>
          <a:prstGeom prst="line">
            <a:avLst/>
          </a:prstGeom>
          <a:ln w="25400">
            <a:solidFill>
              <a:srgbClr val="328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9202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4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WIREDTIGER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06840" y="2377440"/>
            <a:ext cx="411480" cy="0"/>
          </a:xfrm>
          <a:prstGeom prst="line">
            <a:avLst/>
          </a:prstGeom>
          <a:ln w="25400">
            <a:solidFill>
              <a:srgbClr val="664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920240"/>
            <a:ext cx="2148840" cy="91440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6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64EA0"/>
                </a:solidFill>
                <a:latin typeface="Aptos"/>
              </a:defRPr>
            </a:pPr>
            <a:r>
              <a:t>5 • AT REST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ENCRYPTED DISK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886200"/>
            <a:ext cx="2194560" cy="914400"/>
          </a:xfrm>
          <a:prstGeom prst="roundRect">
            <a:avLst/>
          </a:prstGeom>
          <a:solidFill>
            <a:srgbClr val="E9F6EF"/>
          </a:solidFill>
          <a:ln w="12700">
            <a:solidFill>
              <a:srgbClr val="328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32875C"/>
                </a:solidFill>
                <a:latin typeface="Aptos"/>
              </a:defRPr>
            </a:pPr>
            <a:r>
              <a:t>IDENTITY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AUTHENTICATION</a:t>
            </a:r>
            <a:br/>
            <a:r>
              <a:t>Who are you?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886200"/>
            <a:ext cx="2194560" cy="914400"/>
          </a:xfrm>
          <a:prstGeom prst="roundRect">
            <a:avLst/>
          </a:prstGeom>
          <a:solidFill>
            <a:srgbClr val="FCF4E2"/>
          </a:solidFill>
          <a:ln w="12700">
            <a:solidFill>
              <a:srgbClr val="CC8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CC8723"/>
                </a:solidFill>
                <a:latin typeface="Aptos"/>
              </a:defRPr>
            </a:pPr>
            <a:r>
              <a:t>ACCESS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AUTHORIZATION</a:t>
            </a:r>
            <a:br/>
            <a:r>
              <a:t>What can you do?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886200"/>
            <a:ext cx="2194560" cy="914400"/>
          </a:xfrm>
          <a:prstGeom prst="roundRect">
            <a:avLst/>
          </a:prstGeom>
          <a:solidFill>
            <a:srgbClr val="FBEBEB"/>
          </a:solidFill>
          <a:ln w="12700">
            <a:solidFill>
              <a:srgbClr val="B4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B43E3E"/>
                </a:solidFill>
                <a:latin typeface="Aptos"/>
              </a:defRPr>
            </a:pPr>
            <a:r>
              <a:t>KEYS</a:t>
            </a:r>
          </a:p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KMS / HSM</a:t>
            </a:r>
            <a:br/>
            <a:r>
              <a:t>Who controls keys?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57800"/>
            <a:ext cx="10469880" cy="5943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D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2296" rIns="109728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2A5DA3"/>
                </a:solidFill>
                <a:latin typeface="Aptos"/>
              </a:defRPr>
            </a:pPr>
            <a:r>
              <a:t>Takeaway</a:t>
            </a:r>
          </a:p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TLS protects the pipe. WiredTiger encryption protects persisted storage. Authentication, authorization and key management complete the security architecture.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9672"/>
            <a:ext cx="11155680" cy="9144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68291"/>
                </a:solidFill>
                <a:latin typeface="Aptos"/>
              </a:defRPr>
            </a:pPr>
            <a:r>
              <a:t>MongoDB Security • Encryption in Transit &amp; At 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2881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68291"/>
                </a:solidFill>
                <a:latin typeface="Aptos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5236</Words>
  <Application>Microsoft Office PowerPoint</Application>
  <PresentationFormat>Widescreen</PresentationFormat>
  <Paragraphs>885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Security: Encryption at Rest, Key Management, TLS/SSL and Performance</dc:title>
  <dc:subject>Detailed MongoDB security deck: Encryption at Rest + TLS/SSL Encryption in Transit</dc:subject>
  <dc:creator>OpenAI</dc:creator>
  <cp:keywords>MongoDB, WiredTiger, encryption at rest, KMS, HSM, encryption keys, performance, backup, disaster recovery</cp:keywords>
  <dc:description>generated using python-pptx</dc:description>
  <cp:lastModifiedBy>anju munoth</cp:lastModifiedBy>
  <cp:revision>5</cp:revision>
  <dcterms:created xsi:type="dcterms:W3CDTF">2013-01-27T09:14:16Z</dcterms:created>
  <dcterms:modified xsi:type="dcterms:W3CDTF">2026-10-08T03:02:46Z</dcterms:modified>
  <cp:category/>
</cp:coreProperties>
</file>