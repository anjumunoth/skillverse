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451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4982582" cy="13542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/>
              <a:t>MongoDB 8.x</a:t>
            </a:r>
          </a:p>
          <a:p>
            <a:pPr>
              <a:spcBef>
                <a:spcPts val="1200"/>
              </a:spcBef>
              <a:defRPr sz="3000">
                <a:solidFill>
                  <a:srgbClr val="AAE1BE"/>
                </a:solidFill>
              </a:defRPr>
            </a:pPr>
            <a:r>
              <a:rPr dirty="0" err="1"/>
              <a:t>mongoexport</a:t>
            </a:r>
            <a:r>
              <a:rPr dirty="0"/>
              <a:t> &amp; </a:t>
            </a:r>
            <a:r>
              <a:rPr dirty="0" err="1"/>
              <a:t>mongoimport</a:t>
            </a:r>
            <a:r>
              <a:rPr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MongoDB Data Movement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A65B"/>
                </a:solidFill>
              </a:defRPr>
            </a:pPr>
            <a:r>
              <a:t>Data exchange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mongoexport: MongoDB → JSON / CSV / TSV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mongoimport: JSON / CSV / TSV → MongoDB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Good for reporting, selected data, interoperability and migration of document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361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A65B"/>
                </a:solidFill>
              </a:defRPr>
            </a:pPr>
            <a:r>
              <a:t>Backup / restore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mongodump: MongoDB → BSON dump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mongorestore: BSON dump → MongoDB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Preferred family for MongoDB backup and restoration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The Core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35640" cy="438912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7844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MongoDB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|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+---- mongoexport ----&gt; JSON / CSV / TSV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|                          |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|                          +---- mongoimport ----&gt; MongoDB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|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+---- mongodump -------&gt; BSON dump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                           |</a:t>
            </a:r>
          </a:p>
          <a:p>
            <a:pPr>
              <a:spcAft>
                <a:spcPts val="100"/>
              </a:spcAft>
              <a:defRPr sz="1900">
                <a:solidFill>
                  <a:srgbClr val="FFFFFF"/>
                </a:solidFill>
                <a:latin typeface="Consolas"/>
              </a:defRPr>
            </a:pPr>
            <a:r>
              <a:t>                              +---- mongorestore ----&gt; MongoDB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Ubuntu + MongoDB 8.x: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3272A"/>
                </a:solidFill>
              </a:defRPr>
            </a:pPr>
            <a:r>
              <a:t>MongoDB Server 8.x should be installed and reachable.</a:t>
            </a:r>
          </a:p>
          <a:p>
            <a:pPr>
              <a:spcAft>
                <a:spcPts val="900"/>
              </a:spcAft>
              <a:defRPr sz="2000" b="0">
                <a:solidFill>
                  <a:srgbClr val="23272A"/>
                </a:solidFill>
              </a:defRPr>
            </a:pPr>
            <a:r>
              <a:t>mongoexport and mongoimport come from the MongoDB Database Tools package.</a:t>
            </a:r>
          </a:p>
          <a:p>
            <a:pPr>
              <a:spcAft>
                <a:spcPts val="900"/>
              </a:spcAft>
              <a:defRPr sz="2000" b="0">
                <a:solidFill>
                  <a:srgbClr val="23272A"/>
                </a:solidFill>
              </a:defRPr>
            </a:pPr>
            <a:r>
              <a:t>Database Tools have their own versioning; their version is not the same as MongoDB Server 8.x.</a:t>
            </a:r>
          </a:p>
          <a:p>
            <a:pPr>
              <a:spcAft>
                <a:spcPts val="900"/>
              </a:spcAft>
              <a:defRPr sz="2000" b="0">
                <a:solidFill>
                  <a:srgbClr val="23272A"/>
                </a:solidFill>
              </a:defRPr>
            </a:pPr>
            <a:r>
              <a:t>Confirm the tools are on PATH before starting the lab.</a:t>
            </a:r>
          </a:p>
          <a:p>
            <a:pPr>
              <a:spcAft>
                <a:spcPts val="900"/>
              </a:spcAft>
              <a:defRPr sz="2000" b="0">
                <a:solidFill>
                  <a:srgbClr val="23272A"/>
                </a:solidFill>
              </a:defRPr>
            </a:pPr>
            <a:r>
              <a:t>Typical local MongoDB endpoint: mongodb://localhost:27017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10835640" cy="192024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67911"/>
            <a:ext cx="103784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mongosh --version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mongod --version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mongoexport --version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mongoimport --version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mongodump --version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mongorestore --version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which mongoexport</a:t>
            </a:r>
          </a:p>
          <a:p>
            <a:pPr>
              <a:spcAft>
                <a:spcPts val="10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t>which mongoimport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8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mongoexport — Basic JSON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A"/>
                </a:solidFill>
              </a:defRPr>
            </a:pPr>
            <a:r>
              <a:rPr dirty="0"/>
              <a:t>Exports documents from one MongoDB collection into a file.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A"/>
                </a:solidFill>
              </a:defRPr>
            </a:pPr>
            <a:r>
              <a:rPr dirty="0"/>
              <a:t>Default JSON output is newline-delimited: one document per line.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800" b="0">
                <a:solidFill>
                  <a:srgbClr val="23272A"/>
                </a:solidFill>
              </a:defRPr>
            </a:pPr>
            <a:r>
              <a:rPr dirty="0"/>
              <a:t>It is a data interchange/export utility, not the primary MongoDB backup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34640"/>
            <a:ext cx="10835640" cy="219456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1037844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--out=employees.json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mongoexport — Host, Port, DB and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35640" cy="274320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7844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--host=localhost \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--port=27017 \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--db=company \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  --out=employees.json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--host and --port identify the MongoDB server.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--db identifies the source database.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--collection identifies the collection to export.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--out specifies the destination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90" y="489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What Does the Exported JSON Look Like?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35640" cy="201168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78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{"_id":1,"name":"Anju","department":"Training","salary":80000}</a:t>
            </a:r>
          </a:p>
          <a:p>
            <a:pPr>
              <a:spcAft>
                <a:spcPts val="100"/>
              </a:spcAft>
              <a:defRPr sz="1700">
                <a:solidFill>
                  <a:srgbClr val="FFFFFF"/>
                </a:solidFill>
                <a:latin typeface="Consolas"/>
              </a:defRPr>
            </a:pPr>
            <a:r>
              <a:t>{"_id":2,"name":"Ravi","department":"IT","salary":90000}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A"/>
                </a:solidFill>
              </a:defRPr>
            </a:pPr>
            <a:r>
              <a:rPr dirty="0"/>
              <a:t>Each line represents one document.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A"/>
                </a:solidFill>
              </a:defRPr>
            </a:pPr>
            <a:r>
              <a:rPr dirty="0"/>
              <a:t>MongoDB may use Extended JSON representations for BSON-specific values.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700" b="0">
                <a:solidFill>
                  <a:srgbClr val="23272A"/>
                </a:solidFill>
              </a:defRPr>
            </a:pPr>
            <a:r>
              <a:rPr dirty="0"/>
              <a:t>This format is convenient for pipelines and command-line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Export as a JSON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233172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78440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--out=employees.json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--jsonArray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10835640" cy="150876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050791"/>
            <a:ext cx="103784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[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{"_id":1,"name":"Anju","department":"Training"},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{"_id":2,"name":"Ravi","department":"IT"}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Export Selected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246888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784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--out=employee_names.json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--fields=name,department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Useful when only a subset of attributes should be shared.</a:t>
            </a:r>
          </a:p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Example output: {"name":"Anju","department":"Training"}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Export to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246888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784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--type=csv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--fields=name,department,salary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--out=employees.csv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069080"/>
            <a:ext cx="10835640" cy="141732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233672"/>
            <a:ext cx="10378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name,department,salary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Anju,Training,80000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Ravi,IT,90000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Export Only Matching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246888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7844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--query='{"department":"IT"}'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--out=it_employees.json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Only documents matching the query are exported.</a:t>
            </a:r>
          </a:p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Useful for departmental extracts, migration subsets and targeted data exchange.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Export with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347472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10378440" cy="315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--host=localhost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--port=27017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--username=admin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--password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--authenticationDatabase=admin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--db=company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--out=employees.json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72A"/>
                </a:solidFill>
              </a:defRPr>
            </a:pPr>
            <a:r>
              <a:t>Using --password without a value prompts for the password.</a:t>
            </a:r>
          </a:p>
          <a:p>
            <a:pPr>
              <a:spcAft>
                <a:spcPts val="900"/>
              </a:spcAft>
              <a:defRPr sz="1500" b="0">
                <a:solidFill>
                  <a:srgbClr val="23272A"/>
                </a:solidFill>
              </a:defRPr>
            </a:pPr>
            <a:r>
              <a:t>Avoid putting sensitive passwords directly into shell history where possible.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mongoimport — Basic JSON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72A"/>
                </a:solidFill>
              </a:defRPr>
            </a:pPr>
            <a:r>
              <a:t>Loads documents from a JSON file into a MongoDB collection.</a:t>
            </a:r>
          </a:p>
          <a:p>
            <a:pPr>
              <a:spcAft>
                <a:spcPts val="900"/>
              </a:spcAft>
              <a:defRPr sz="1800" b="0">
                <a:solidFill>
                  <a:srgbClr val="23272A"/>
                </a:solidFill>
              </a:defRPr>
            </a:pPr>
            <a:r>
              <a:t>The target database can be specified through the URI and the target collection through --collection.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0835640" cy="228600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1037844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mongoimport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--file=employees.json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Import a JSON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242316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784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mongoimport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--file=employees.json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--jsonArray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Use --jsonArray when the input file contains one top-level JSON array.</a:t>
            </a:r>
          </a:p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Without this option, the normal import format is newline-delimited JSON documents.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Import CSV with Header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256032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78440" cy="2240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mongoimport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--type=csv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--headerline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--file=employees.csv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60520"/>
            <a:ext cx="10835640" cy="150876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25112"/>
            <a:ext cx="103784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name,department,salary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Anju,Training,80000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Ravi,IT,90000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Important: CSV and MongoDB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3272A"/>
                </a:solidFill>
              </a:defRPr>
            </a:pPr>
            <a:r>
              <a:t>CSV is a tabular interchange format; MongoDB stores rich BSON types.</a:t>
            </a:r>
          </a:p>
          <a:p>
            <a:pPr>
              <a:spcAft>
                <a:spcPts val="900"/>
              </a:spcAft>
              <a:defRPr sz="1900" b="0">
                <a:solidFill>
                  <a:srgbClr val="23272A"/>
                </a:solidFill>
              </a:defRPr>
            </a:pPr>
            <a:r>
              <a:t>MongoDB documents can contain nested documents, arrays, ObjectId, Date, Decimal128, Binary and other BSON types.</a:t>
            </a:r>
          </a:p>
          <a:p>
            <a:pPr>
              <a:spcAft>
                <a:spcPts val="900"/>
              </a:spcAft>
              <a:defRPr sz="1900" b="0">
                <a:solidFill>
                  <a:srgbClr val="23272A"/>
                </a:solidFill>
              </a:defRPr>
            </a:pPr>
            <a:r>
              <a:t>CSV cannot faithfully represent the complete BSON model.</a:t>
            </a:r>
          </a:p>
          <a:p>
            <a:pPr>
              <a:spcAft>
                <a:spcPts val="900"/>
              </a:spcAft>
              <a:defRPr sz="1900" b="0">
                <a:solidFill>
                  <a:srgbClr val="23272A"/>
                </a:solidFill>
              </a:defRPr>
            </a:pPr>
            <a:r>
              <a:t>For rich MongoDB data and backup fidelity, prefer BSON-based dump/restore rather than CSV.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709160"/>
            <a:ext cx="10835640" cy="105156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73752"/>
            <a:ext cx="103784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BSON examples: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String | Integer | Long | Double | Decimal128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Date | ObjectId | Boolean | Array | Embedded document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Binary |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Import into a New Collection / Replace Existing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3272A"/>
                </a:solidFill>
              </a:defRPr>
            </a:pPr>
            <a:r>
              <a:t>Import into another collection by changing --collection.</a:t>
            </a:r>
          </a:p>
          <a:p>
            <a:pPr>
              <a:spcAft>
                <a:spcPts val="900"/>
              </a:spcAft>
              <a:defRPr sz="1800" b="0">
                <a:solidFill>
                  <a:srgbClr val="23272A"/>
                </a:solidFill>
              </a:defRPr>
            </a:pPr>
            <a:r>
              <a:t>The --drop option removes the target collection before importing. Use it carefully because it is destructive.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10835640" cy="283464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53512"/>
            <a:ext cx="1037844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# Import into a different collection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mongoimport \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--collection=employees_backup \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--file=employees.json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# Drop target collection before import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mongoimport \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--file=employees.json \</a:t>
            </a:r>
          </a:p>
          <a:p>
            <a:pPr>
              <a:spcAft>
                <a:spcPts val="1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  --drop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Import with Upsert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835640" cy="228600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0378440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mongoimport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--file=employees.json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--mode=upsert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Upsert mode can update a matching document or insert a new one.</a:t>
            </a:r>
          </a:p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Useful for incremental loads and synchronization scenarios.</a:t>
            </a:r>
          </a:p>
          <a:p>
            <a:pPr>
              <a:spcAft>
                <a:spcPts val="900"/>
              </a:spcAft>
              <a:defRPr sz="1700" b="0">
                <a:solidFill>
                  <a:srgbClr val="23272A"/>
                </a:solidFill>
              </a:defRPr>
            </a:pPr>
            <a:r>
              <a:t>Choose matching/upsert fields carefully for your data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mongoexport/import vs mongodump/restore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A65B"/>
                </a:solidFill>
              </a:defRPr>
            </a:pPr>
            <a:r>
              <a:t>mongoexport / mongoimport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JSON / CSV / TSV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Selected documents or fields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Data interchange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Reporting / external systems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Less faithful to full BSON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5361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6A65B"/>
                </a:solidFill>
              </a:defRPr>
            </a:pPr>
            <a:r>
              <a:t>mongodump / mongorestore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BSON-based dump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MongoDB backup and restore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Better preservation of MongoDB-specific data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Database migration / recovery workflows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Use for backup rather than export/import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Where mongodump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283464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7844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# Backup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mongodump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--uri="mongodb://localhost:27017/company"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--out=/backup/company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# Restore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mongorestore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/backup/company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2362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600" b="0">
                <a:solidFill>
                  <a:srgbClr val="23272A"/>
                </a:solidFill>
              </a:defRPr>
            </a:pPr>
            <a:r>
              <a:rPr dirty="0"/>
              <a:t>For disaster recovery, consider backup strategy, </a:t>
            </a:r>
            <a:r>
              <a:rPr dirty="0" err="1"/>
              <a:t>oplog</a:t>
            </a:r>
            <a:r>
              <a:rPr dirty="0"/>
              <a:t>/recovery requirements, snapshots and tested restore procedures.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when you want: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Backup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Disaster recovery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Database migration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Point-in-time recovery workflows when combined with </a:t>
            </a:r>
            <a:r>
              <a:rPr lang="en-IN" dirty="0" err="1"/>
              <a:t>oplog</a:t>
            </a:r>
            <a:r>
              <a:rPr lang="en-IN" dirty="0"/>
              <a:t>/other mechanisms 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Preservation of MongoDB-specific BSON types and metadata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Hands-on Lab: Create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835640" cy="416052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103784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mongosh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use trainingDB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db.employees.insertMany([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{_id:1, name:"Anju", department:"Training", salary:80000},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{_id:2, name:"Ravi", department:"IT", salary:90000},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  {_id:3, name:"Priya", department:"HR", salary:70000}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])</a:t>
            </a:r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db.employees.find()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23272A"/>
                </a:solidFill>
              </a:defRPr>
            </a:pPr>
            <a:r>
              <a:t>Exit with: exit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Hands-on Lab: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306324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78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exit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mongoexport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--uri="mongodb://localhost:27017/trainingDB"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--out=employees.json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cat employees.json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Observe the one-document-per-line JSON format.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Repeat the exercise with --jsonArray, --type=csv and --fields.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Hands-on Lab: Import into Another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342900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78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mongoimport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--uri="mongodb://localhost:27017/trainingDB2"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--collection=employees \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  --file=employees.json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mongosh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use trainingDB2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db.employees.find()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Verify that the documents are now present in trainingDB2.employees.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Ubuntu Troubleshooting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301752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78440" cy="2697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which mongoexport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which mongoimport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mongoexport --version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mongoimport --version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# Check server connectivity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mongosh "mongodb://localhost:27017"</a:t>
            </a:r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t># Confirm database tools are installed and on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If you see 'command not found', install/configure MongoDB Database Tools.</a:t>
            </a:r>
          </a:p>
          <a:p>
            <a:pPr>
              <a:spcAft>
                <a:spcPts val="900"/>
              </a:spcAft>
              <a:defRPr sz="1600" b="0">
                <a:solidFill>
                  <a:srgbClr val="23272A"/>
                </a:solidFill>
              </a:defRPr>
            </a:pPr>
            <a:r>
              <a:t>If connection fails, check mongod status, host, port, authentication and firewall/network settings.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Command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835640" cy="498348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07592"/>
            <a:ext cx="103784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# JSON export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mongoexport --uri="mongodb://localhost:27017/db" --collection=coll --out=data.json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# CSV export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mongoexport --uri="mongodb://localhost:27017/db" --collection=coll \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--type=csv --fields=name,department --out=data.csv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# Filtered export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mongoexport --uri="mongodb://localhost:27017/db" --collection=coll \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--query='{"department":"IT"}' --out=it.json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# JSON import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mongoimport --uri="mongodb://localhost:27017/db" --collection=coll --file=data.json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# JSON array import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mongoimport --uri="mongodb://localhost:27017/db" --collection=coll \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--file=data.json --jsonArray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# CSV import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mongoimport --uri="mongodb://localhost:27017/db" --collection=coll \</a:t>
            </a:r>
          </a:p>
          <a:p>
            <a:pPr>
              <a:spcAft>
                <a:spcPts val="100"/>
              </a:spcAft>
              <a:defRPr sz="1150">
                <a:solidFill>
                  <a:srgbClr val="FFFFFF"/>
                </a:solidFill>
                <a:latin typeface="Consolas"/>
              </a:defRPr>
            </a:pPr>
            <a:r>
              <a:t>  --type=csv --headerline --file=data.csv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DBA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A"/>
                </a:solidFill>
              </a:defRPr>
            </a:pPr>
            <a:r>
              <a:rPr dirty="0" err="1"/>
              <a:t>mongoexport</a:t>
            </a:r>
            <a:r>
              <a:rPr dirty="0"/>
              <a:t>/</a:t>
            </a:r>
            <a:r>
              <a:rPr dirty="0" err="1"/>
              <a:t>mongoimport</a:t>
            </a:r>
            <a:r>
              <a:rPr dirty="0"/>
              <a:t> are primarily for data exchange and loading/unloading document data.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A"/>
                </a:solidFill>
              </a:defRPr>
            </a:pPr>
            <a:r>
              <a:rPr dirty="0" err="1"/>
              <a:t>mongodump</a:t>
            </a:r>
            <a:r>
              <a:rPr dirty="0"/>
              <a:t>/</a:t>
            </a:r>
            <a:r>
              <a:rPr dirty="0" err="1"/>
              <a:t>mongorestore</a:t>
            </a:r>
            <a:r>
              <a:rPr dirty="0"/>
              <a:t> are the appropriate family  for MongoDB backup/restore.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A"/>
                </a:solidFill>
              </a:defRPr>
            </a:pPr>
            <a:r>
              <a:rPr dirty="0"/>
              <a:t>JSON is more expressive than CSV, but neither is a byte-for-byte representation of BSON.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A"/>
                </a:solidFill>
              </a:defRPr>
            </a:pPr>
            <a:r>
              <a:rPr dirty="0"/>
              <a:t>Use --query and --fields to control the exported dataset.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A"/>
                </a:solidFill>
              </a:defRPr>
            </a:pPr>
            <a:r>
              <a:rPr dirty="0"/>
              <a:t>Use --drop carefully; it can destroy the existing target collection.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A"/>
                </a:solidFill>
              </a:defRPr>
            </a:pPr>
            <a:r>
              <a:rPr dirty="0"/>
              <a:t>Use authentication options appropriately and protect credentials.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 b="0">
                <a:solidFill>
                  <a:srgbClr val="23272A"/>
                </a:solidFill>
              </a:defRPr>
            </a:pPr>
            <a:r>
              <a:rPr dirty="0"/>
              <a:t>Always test imports and restores in a controlled environment before production 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Final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4023360"/>
          </a:xfrm>
          <a:prstGeom prst="roundRect">
            <a:avLst/>
          </a:prstGeom>
          <a:solidFill>
            <a:srgbClr val="1E2226"/>
          </a:solidFill>
          <a:ln>
            <a:solidFill>
              <a:srgbClr val="373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103784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DATA EXCHANGE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MongoDB --mongoexport--&gt; JSON / CSV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JSON / CSV --mongoimport--&gt; MongoDB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BACKUP / RESTORE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MongoDB --mongodump--&gt; BSON dump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BSON dump --mongorestore--&gt; MongoDB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Remember: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EXPORT / IMPORT = data interchange</a:t>
            </a:r>
          </a:p>
          <a:p>
            <a:pPr>
              <a:spcAft>
                <a:spcPts val="1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DUMP / RESTORE   = backup / recovery workflow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5B0D-932D-EDF8-8468-6C8415E0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692DC8-9D5C-F1A0-9418-DB77CA9BD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672192"/>
              </p:ext>
            </p:extLst>
          </p:nvPr>
        </p:nvGraphicFramePr>
        <p:xfrm>
          <a:off x="457199" y="1600200"/>
          <a:ext cx="11165948" cy="4727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487">
                  <a:extLst>
                    <a:ext uri="{9D8B030D-6E8A-4147-A177-3AD203B41FA5}">
                      <a16:colId xmlns:a16="http://schemas.microsoft.com/office/drawing/2014/main" val="2410963758"/>
                    </a:ext>
                  </a:extLst>
                </a:gridCol>
                <a:gridCol w="2791487">
                  <a:extLst>
                    <a:ext uri="{9D8B030D-6E8A-4147-A177-3AD203B41FA5}">
                      <a16:colId xmlns:a16="http://schemas.microsoft.com/office/drawing/2014/main" val="262678506"/>
                    </a:ext>
                  </a:extLst>
                </a:gridCol>
                <a:gridCol w="2791487">
                  <a:extLst>
                    <a:ext uri="{9D8B030D-6E8A-4147-A177-3AD203B41FA5}">
                      <a16:colId xmlns:a16="http://schemas.microsoft.com/office/drawing/2014/main" val="2109754004"/>
                    </a:ext>
                  </a:extLst>
                </a:gridCol>
                <a:gridCol w="2791487">
                  <a:extLst>
                    <a:ext uri="{9D8B030D-6E8A-4147-A177-3AD203B41FA5}">
                      <a16:colId xmlns:a16="http://schemas.microsoft.com/office/drawing/2014/main" val="2733500787"/>
                    </a:ext>
                  </a:extLst>
                </a:gridCol>
              </a:tblGrid>
              <a:tr h="54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195851"/>
                  </a:ext>
                </a:extLst>
              </a:tr>
              <a:tr h="1750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mongoexport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→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 / CSV / TSV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Export data for reporting, data exchange,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7880387"/>
                  </a:ext>
                </a:extLst>
              </a:tr>
              <a:tr h="94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mongoimport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File → 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 / CSV / TSV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 data into a collection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9958455"/>
                  </a:ext>
                </a:extLst>
              </a:tr>
              <a:tr h="546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mongodump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→ dump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 backup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152187"/>
                  </a:ext>
                </a:extLst>
              </a:tr>
              <a:tr h="942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mongorestore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Dump → MongoDB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Restore a MongoDB backup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111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8980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2020</Words>
  <Application>Microsoft Office PowerPoint</Application>
  <PresentationFormat>Widescreen</PresentationFormat>
  <Paragraphs>333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Database tools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anju munoth</cp:lastModifiedBy>
  <cp:revision>4</cp:revision>
  <dcterms:created xsi:type="dcterms:W3CDTF">2013-01-27T09:14:16Z</dcterms:created>
  <dcterms:modified xsi:type="dcterms:W3CDTF">2026-10-05T01:15:08Z</dcterms:modified>
  <cp:category/>
</cp:coreProperties>
</file>